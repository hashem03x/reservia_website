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IBM Plex Sans" panose="020B0503050203000203" pitchFamily="34" charset="0"/>
      <p:regular r:id="rId18"/>
    </p:embeddedFont>
    <p:embeddedFont>
      <p:font typeface="IBM Plex Sans Bold" panose="020B0803050203000203" pitchFamily="34" charset="0"/>
      <p:bold r:id="rId19"/>
    </p:embeddedFont>
    <p:embeddedFont>
      <p:font typeface="IBM Plex Sans SemiBold" panose="020B0703050203000203" pitchFamily="34" charset="0"/>
      <p:regular r:id="rId20"/>
      <p:bold r:id="rId21"/>
      <p:italic r:id="rId22"/>
      <p:boldItalic r:id="rId23"/>
    </p:embeddedFont>
    <p:embeddedFont>
      <p:font typeface="Space Grotesk Bold" pitchFamily="2" charset="77"/>
      <p:regular r:id="rId24"/>
      <p:bold r:id="rId25"/>
    </p:embeddedFont>
    <p:embeddedFont>
      <p:font typeface="Space Grotesk SemiBold" pitchFamily="2" charset="77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EE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266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Abdelfattah" userId="a59eeea3eb2bf265" providerId="LiveId" clId="{0CDCBB55-A5DB-5A06-AB04-A7A95A269507}"/>
    <pc:docChg chg="custSel modSld">
      <pc:chgData name="Ahmed Abdelfattah" userId="a59eeea3eb2bf265" providerId="LiveId" clId="{0CDCBB55-A5DB-5A06-AB04-A7A95A269507}" dt="2026-10-25T08:08:19.919" v="5" actId="1076"/>
      <pc:docMkLst>
        <pc:docMk/>
      </pc:docMkLst>
      <pc:sldChg chg="delSp modSp mod">
        <pc:chgData name="Ahmed Abdelfattah" userId="a59eeea3eb2bf265" providerId="LiveId" clId="{0CDCBB55-A5DB-5A06-AB04-A7A95A269507}" dt="2026-10-25T08:08:19.919" v="5" actId="1076"/>
        <pc:sldMkLst>
          <pc:docMk/>
          <pc:sldMk cId="0" sldId="256"/>
        </pc:sldMkLst>
        <pc:spChg chg="mod">
          <ac:chgData name="Ahmed Abdelfattah" userId="a59eeea3eb2bf265" providerId="LiveId" clId="{0CDCBB55-A5DB-5A06-AB04-A7A95A269507}" dt="2026-10-25T08:08:19.919" v="5" actId="1076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Ahmed Abdelfattah" userId="a59eeea3eb2bf265" providerId="LiveId" clId="{0CDCBB55-A5DB-5A06-AB04-A7A95A269507}" dt="2026-10-25T08:07:43.041" v="1" actId="21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hmed Abdelfattah" userId="a59eeea3eb2bf265" providerId="LiveId" clId="{0CDCBB55-A5DB-5A06-AB04-A7A95A269507}" dt="2026-10-25T08:08:19.919" v="5" actId="1076"/>
          <ac:spMkLst>
            <pc:docMk/>
            <pc:sldMk cId="0" sldId="256"/>
            <ac:spMk id="12" creationId="{00000000-0000-0000-0000-000000000000}"/>
          </ac:spMkLst>
        </pc:spChg>
        <pc:picChg chg="mod">
          <ac:chgData name="Ahmed Abdelfattah" userId="a59eeea3eb2bf265" providerId="LiveId" clId="{0CDCBB55-A5DB-5A06-AB04-A7A95A269507}" dt="2026-10-25T08:08:08.817" v="3" actId="1076"/>
          <ac:picMkLst>
            <pc:docMk/>
            <pc:sldMk cId="0" sldId="256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418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jpe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26" Type="http://schemas.openxmlformats.org/officeDocument/2006/relationships/image" Target="../media/image55.png"/><Relationship Id="rId39" Type="http://schemas.openxmlformats.org/officeDocument/2006/relationships/image" Target="../media/image68.png"/><Relationship Id="rId21" Type="http://schemas.openxmlformats.org/officeDocument/2006/relationships/image" Target="../media/image50.png"/><Relationship Id="rId34" Type="http://schemas.openxmlformats.org/officeDocument/2006/relationships/image" Target="../media/image63.png"/><Relationship Id="rId42" Type="http://schemas.openxmlformats.org/officeDocument/2006/relationships/image" Target="../media/image71.png"/><Relationship Id="rId47" Type="http://schemas.openxmlformats.org/officeDocument/2006/relationships/image" Target="../media/image76.png"/><Relationship Id="rId50" Type="http://schemas.openxmlformats.org/officeDocument/2006/relationships/image" Target="../media/image79.png"/><Relationship Id="rId55" Type="http://schemas.openxmlformats.org/officeDocument/2006/relationships/image" Target="../media/image8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5.png"/><Relationship Id="rId29" Type="http://schemas.openxmlformats.org/officeDocument/2006/relationships/image" Target="../media/image58.png"/><Relationship Id="rId11" Type="http://schemas.openxmlformats.org/officeDocument/2006/relationships/image" Target="../media/image40.png"/><Relationship Id="rId24" Type="http://schemas.openxmlformats.org/officeDocument/2006/relationships/image" Target="../media/image53.png"/><Relationship Id="rId32" Type="http://schemas.openxmlformats.org/officeDocument/2006/relationships/image" Target="../media/image61.png"/><Relationship Id="rId37" Type="http://schemas.openxmlformats.org/officeDocument/2006/relationships/image" Target="../media/image66.png"/><Relationship Id="rId40" Type="http://schemas.openxmlformats.org/officeDocument/2006/relationships/image" Target="../media/image69.png"/><Relationship Id="rId45" Type="http://schemas.openxmlformats.org/officeDocument/2006/relationships/image" Target="../media/image74.png"/><Relationship Id="rId53" Type="http://schemas.openxmlformats.org/officeDocument/2006/relationships/image" Target="../media/image82.png"/><Relationship Id="rId58" Type="http://schemas.openxmlformats.org/officeDocument/2006/relationships/image" Target="../media/image87.png"/><Relationship Id="rId5" Type="http://schemas.openxmlformats.org/officeDocument/2006/relationships/image" Target="../media/image34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Relationship Id="rId27" Type="http://schemas.openxmlformats.org/officeDocument/2006/relationships/image" Target="../media/image56.png"/><Relationship Id="rId30" Type="http://schemas.openxmlformats.org/officeDocument/2006/relationships/image" Target="../media/image59.png"/><Relationship Id="rId35" Type="http://schemas.openxmlformats.org/officeDocument/2006/relationships/image" Target="../media/image64.png"/><Relationship Id="rId43" Type="http://schemas.openxmlformats.org/officeDocument/2006/relationships/image" Target="../media/image72.png"/><Relationship Id="rId48" Type="http://schemas.openxmlformats.org/officeDocument/2006/relationships/image" Target="../media/image77.png"/><Relationship Id="rId56" Type="http://schemas.openxmlformats.org/officeDocument/2006/relationships/image" Target="../media/image85.jpeg"/><Relationship Id="rId8" Type="http://schemas.openxmlformats.org/officeDocument/2006/relationships/image" Target="../media/image37.png"/><Relationship Id="rId51" Type="http://schemas.openxmlformats.org/officeDocument/2006/relationships/image" Target="../media/image80.png"/><Relationship Id="rId3" Type="http://schemas.openxmlformats.org/officeDocument/2006/relationships/image" Target="../media/image32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54.png"/><Relationship Id="rId33" Type="http://schemas.openxmlformats.org/officeDocument/2006/relationships/image" Target="../media/image62.png"/><Relationship Id="rId38" Type="http://schemas.openxmlformats.org/officeDocument/2006/relationships/image" Target="../media/image67.png"/><Relationship Id="rId46" Type="http://schemas.openxmlformats.org/officeDocument/2006/relationships/image" Target="../media/image75.png"/><Relationship Id="rId59" Type="http://schemas.openxmlformats.org/officeDocument/2006/relationships/image" Target="../media/image88.png"/><Relationship Id="rId20" Type="http://schemas.openxmlformats.org/officeDocument/2006/relationships/image" Target="../media/image49.png"/><Relationship Id="rId41" Type="http://schemas.openxmlformats.org/officeDocument/2006/relationships/image" Target="../media/image70.png"/><Relationship Id="rId54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28" Type="http://schemas.openxmlformats.org/officeDocument/2006/relationships/image" Target="../media/image57.png"/><Relationship Id="rId36" Type="http://schemas.openxmlformats.org/officeDocument/2006/relationships/image" Target="../media/image65.png"/><Relationship Id="rId49" Type="http://schemas.openxmlformats.org/officeDocument/2006/relationships/image" Target="../media/image78.png"/><Relationship Id="rId57" Type="http://schemas.openxmlformats.org/officeDocument/2006/relationships/image" Target="../media/image86.png"/><Relationship Id="rId10" Type="http://schemas.openxmlformats.org/officeDocument/2006/relationships/image" Target="../media/image39.png"/><Relationship Id="rId31" Type="http://schemas.openxmlformats.org/officeDocument/2006/relationships/image" Target="../media/image60.png"/><Relationship Id="rId44" Type="http://schemas.openxmlformats.org/officeDocument/2006/relationships/image" Target="../media/image73.png"/><Relationship Id="rId52" Type="http://schemas.openxmlformats.org/officeDocument/2006/relationships/image" Target="../media/image81.png"/><Relationship Id="rId60" Type="http://schemas.openxmlformats.org/officeDocument/2006/relationships/image" Target="../media/image8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3" Type="http://schemas.openxmlformats.org/officeDocument/2006/relationships/image" Target="../media/image100.jpe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jpe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2.png"/><Relationship Id="rId21" Type="http://schemas.openxmlformats.org/officeDocument/2006/relationships/image" Target="../media/image137.png"/><Relationship Id="rId42" Type="http://schemas.openxmlformats.org/officeDocument/2006/relationships/image" Target="../media/image158.png"/><Relationship Id="rId47" Type="http://schemas.openxmlformats.org/officeDocument/2006/relationships/image" Target="../media/image163.png"/><Relationship Id="rId63" Type="http://schemas.openxmlformats.org/officeDocument/2006/relationships/image" Target="../media/image178.png"/><Relationship Id="rId68" Type="http://schemas.openxmlformats.org/officeDocument/2006/relationships/image" Target="../media/image183.png"/><Relationship Id="rId7" Type="http://schemas.openxmlformats.org/officeDocument/2006/relationships/image" Target="../media/image123.png"/><Relationship Id="rId71" Type="http://schemas.openxmlformats.org/officeDocument/2006/relationships/image" Target="../media/image186.jpe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32.png"/><Relationship Id="rId29" Type="http://schemas.openxmlformats.org/officeDocument/2006/relationships/image" Target="../media/image145.png"/><Relationship Id="rId11" Type="http://schemas.openxmlformats.org/officeDocument/2006/relationships/image" Target="../media/image127.png"/><Relationship Id="rId24" Type="http://schemas.openxmlformats.org/officeDocument/2006/relationships/image" Target="../media/image140.png"/><Relationship Id="rId32" Type="http://schemas.openxmlformats.org/officeDocument/2006/relationships/image" Target="../media/image148.png"/><Relationship Id="rId37" Type="http://schemas.openxmlformats.org/officeDocument/2006/relationships/image" Target="../media/image153.png"/><Relationship Id="rId40" Type="http://schemas.openxmlformats.org/officeDocument/2006/relationships/image" Target="../media/image156.png"/><Relationship Id="rId45" Type="http://schemas.openxmlformats.org/officeDocument/2006/relationships/image" Target="../media/image161.png"/><Relationship Id="rId53" Type="http://schemas.openxmlformats.org/officeDocument/2006/relationships/image" Target="../media/image67.png"/><Relationship Id="rId58" Type="http://schemas.openxmlformats.org/officeDocument/2006/relationships/image" Target="../media/image173.png"/><Relationship Id="rId66" Type="http://schemas.openxmlformats.org/officeDocument/2006/relationships/image" Target="../media/image181.png"/><Relationship Id="rId5" Type="http://schemas.openxmlformats.org/officeDocument/2006/relationships/image" Target="../media/image121.png"/><Relationship Id="rId61" Type="http://schemas.openxmlformats.org/officeDocument/2006/relationships/image" Target="../media/image176.jpeg"/><Relationship Id="rId19" Type="http://schemas.openxmlformats.org/officeDocument/2006/relationships/image" Target="../media/image135.png"/><Relationship Id="rId14" Type="http://schemas.openxmlformats.org/officeDocument/2006/relationships/image" Target="../media/image130.png"/><Relationship Id="rId22" Type="http://schemas.openxmlformats.org/officeDocument/2006/relationships/image" Target="../media/image138.png"/><Relationship Id="rId27" Type="http://schemas.openxmlformats.org/officeDocument/2006/relationships/image" Target="../media/image143.png"/><Relationship Id="rId30" Type="http://schemas.openxmlformats.org/officeDocument/2006/relationships/image" Target="../media/image146.png"/><Relationship Id="rId35" Type="http://schemas.openxmlformats.org/officeDocument/2006/relationships/image" Target="../media/image151.png"/><Relationship Id="rId43" Type="http://schemas.openxmlformats.org/officeDocument/2006/relationships/image" Target="../media/image159.png"/><Relationship Id="rId48" Type="http://schemas.openxmlformats.org/officeDocument/2006/relationships/image" Target="../media/image164.png"/><Relationship Id="rId56" Type="http://schemas.openxmlformats.org/officeDocument/2006/relationships/image" Target="../media/image171.png"/><Relationship Id="rId64" Type="http://schemas.openxmlformats.org/officeDocument/2006/relationships/image" Target="../media/image179.png"/><Relationship Id="rId69" Type="http://schemas.openxmlformats.org/officeDocument/2006/relationships/image" Target="../media/image184.png"/><Relationship Id="rId8" Type="http://schemas.openxmlformats.org/officeDocument/2006/relationships/image" Target="../media/image124.png"/><Relationship Id="rId51" Type="http://schemas.openxmlformats.org/officeDocument/2006/relationships/image" Target="../media/image167.png"/><Relationship Id="rId3" Type="http://schemas.openxmlformats.org/officeDocument/2006/relationships/image" Target="../media/image119.png"/><Relationship Id="rId12" Type="http://schemas.openxmlformats.org/officeDocument/2006/relationships/image" Target="../media/image128.png"/><Relationship Id="rId17" Type="http://schemas.openxmlformats.org/officeDocument/2006/relationships/image" Target="../media/image133.png"/><Relationship Id="rId25" Type="http://schemas.openxmlformats.org/officeDocument/2006/relationships/image" Target="../media/image141.png"/><Relationship Id="rId33" Type="http://schemas.openxmlformats.org/officeDocument/2006/relationships/image" Target="../media/image149.png"/><Relationship Id="rId38" Type="http://schemas.openxmlformats.org/officeDocument/2006/relationships/image" Target="../media/image154.png"/><Relationship Id="rId46" Type="http://schemas.openxmlformats.org/officeDocument/2006/relationships/image" Target="../media/image162.png"/><Relationship Id="rId59" Type="http://schemas.openxmlformats.org/officeDocument/2006/relationships/image" Target="../media/image174.png"/><Relationship Id="rId67" Type="http://schemas.openxmlformats.org/officeDocument/2006/relationships/image" Target="../media/image182.png"/><Relationship Id="rId20" Type="http://schemas.openxmlformats.org/officeDocument/2006/relationships/image" Target="../media/image136.png"/><Relationship Id="rId41" Type="http://schemas.openxmlformats.org/officeDocument/2006/relationships/image" Target="../media/image157.png"/><Relationship Id="rId54" Type="http://schemas.openxmlformats.org/officeDocument/2006/relationships/image" Target="../media/image169.png"/><Relationship Id="rId62" Type="http://schemas.openxmlformats.org/officeDocument/2006/relationships/image" Target="../media/image177.png"/><Relationship Id="rId70" Type="http://schemas.openxmlformats.org/officeDocument/2006/relationships/image" Target="../media/image1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5" Type="http://schemas.openxmlformats.org/officeDocument/2006/relationships/image" Target="../media/image131.png"/><Relationship Id="rId23" Type="http://schemas.openxmlformats.org/officeDocument/2006/relationships/image" Target="../media/image139.png"/><Relationship Id="rId28" Type="http://schemas.openxmlformats.org/officeDocument/2006/relationships/image" Target="../media/image144.png"/><Relationship Id="rId36" Type="http://schemas.openxmlformats.org/officeDocument/2006/relationships/image" Target="../media/image152.png"/><Relationship Id="rId49" Type="http://schemas.openxmlformats.org/officeDocument/2006/relationships/image" Target="../media/image165.png"/><Relationship Id="rId57" Type="http://schemas.openxmlformats.org/officeDocument/2006/relationships/image" Target="../media/image172.png"/><Relationship Id="rId10" Type="http://schemas.openxmlformats.org/officeDocument/2006/relationships/image" Target="../media/image126.png"/><Relationship Id="rId31" Type="http://schemas.openxmlformats.org/officeDocument/2006/relationships/image" Target="../media/image147.png"/><Relationship Id="rId44" Type="http://schemas.openxmlformats.org/officeDocument/2006/relationships/image" Target="../media/image160.png"/><Relationship Id="rId52" Type="http://schemas.openxmlformats.org/officeDocument/2006/relationships/image" Target="../media/image168.png"/><Relationship Id="rId60" Type="http://schemas.openxmlformats.org/officeDocument/2006/relationships/image" Target="../media/image175.png"/><Relationship Id="rId65" Type="http://schemas.openxmlformats.org/officeDocument/2006/relationships/image" Target="../media/image180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9" Type="http://schemas.openxmlformats.org/officeDocument/2006/relationships/image" Target="../media/image155.png"/><Relationship Id="rId34" Type="http://schemas.openxmlformats.org/officeDocument/2006/relationships/image" Target="../media/image150.png"/><Relationship Id="rId50" Type="http://schemas.openxmlformats.org/officeDocument/2006/relationships/image" Target="../media/image166.png"/><Relationship Id="rId55" Type="http://schemas.openxmlformats.org/officeDocument/2006/relationships/image" Target="../media/image1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3" Type="http://schemas.openxmlformats.org/officeDocument/2006/relationships/image" Target="../media/image191.png"/><Relationship Id="rId7" Type="http://schemas.openxmlformats.org/officeDocument/2006/relationships/image" Target="../media/image19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97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noFill/>
          <a:ln w="6350">
            <a:solidFill>
              <a:srgbClr val="72D7C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0" y="6350"/>
            <a:ext cx="12178698" cy="68453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" y="6350"/>
            <a:ext cx="12191397" cy="3429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940" y="317202"/>
            <a:ext cx="2386052" cy="252065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609884" y="772254"/>
            <a:ext cx="7460865" cy="1238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200" b="1" kern="100" spc="-92" dirty="0">
                <a:solidFill>
                  <a:srgbClr val="0B3D3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Reservia</a:t>
            </a:r>
            <a:endParaRPr lang="en-US" sz="9200" dirty="0"/>
          </a:p>
        </p:txBody>
      </p:sp>
      <p:sp>
        <p:nvSpPr>
          <p:cNvPr id="8" name="Text 2"/>
          <p:cNvSpPr/>
          <p:nvPr/>
        </p:nvSpPr>
        <p:spPr>
          <a:xfrm>
            <a:off x="2609884" y="2027138"/>
            <a:ext cx="807035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b="1" kern="100" spc="240" dirty="0">
                <a:solidFill>
                  <a:srgbClr val="0026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INTEGRATED ENERGY SOLUTIONS</a:t>
            </a:r>
            <a:endParaRPr lang="en-US" sz="2000" dirty="0"/>
          </a:p>
        </p:txBody>
      </p:sp>
      <p:sp>
        <p:nvSpPr>
          <p:cNvPr id="9" name="Shape 3"/>
          <p:cNvSpPr/>
          <p:nvPr/>
        </p:nvSpPr>
        <p:spPr>
          <a:xfrm>
            <a:off x="199371" y="4307676"/>
            <a:ext cx="888978" cy="38100"/>
          </a:xfrm>
          <a:prstGeom prst="roundRect">
            <a:avLst>
              <a:gd name="adj" fmla="val 49999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1" name="Text 5"/>
          <p:cNvSpPr/>
          <p:nvPr/>
        </p:nvSpPr>
        <p:spPr>
          <a:xfrm>
            <a:off x="819130" y="5215771"/>
            <a:ext cx="614009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www.reservia-energy.com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237470" y="3902605"/>
            <a:ext cx="8679935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b="1" kern="100" spc="196" dirty="0">
                <a:solidFill>
                  <a:srgbClr val="F3B51B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GENERATE | STORE | OPTIMIZE | SUSTAIN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1227574"/>
            <a:ext cx="1170910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kern="100" spc="115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PROFILE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2588" y="1583849"/>
            <a:ext cx="11169073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Company profile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82588" y="2275364"/>
            <a:ext cx="11169073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 is an Egyptian energy-infrastructure company with a technology-enabled, customer-focused approach, bringing engineering, project delivery and energy optimization into a connected service model.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588" y="3466802"/>
            <a:ext cx="3704438" cy="31552"/>
          </a:xfrm>
          <a:prstGeom prst="roundRect">
            <a:avLst>
              <a:gd name="adj" fmla="val 49998"/>
            </a:avLst>
          </a:prstGeom>
          <a:solidFill>
            <a:srgbClr val="72D7C7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" name="Text 4"/>
          <p:cNvSpPr/>
          <p:nvPr/>
        </p:nvSpPr>
        <p:spPr>
          <a:xfrm>
            <a:off x="482588" y="3733939"/>
            <a:ext cx="1170910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kern="100" spc="115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OUR VALUES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2588" y="4114998"/>
            <a:ext cx="3665843" cy="679152"/>
          </a:xfrm>
          <a:prstGeom prst="rect">
            <a:avLst/>
          </a:prstGeom>
          <a:solidFill>
            <a:srgbClr val="EAF5F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8" name="Text 6"/>
          <p:cNvSpPr/>
          <p:nvPr/>
        </p:nvSpPr>
        <p:spPr>
          <a:xfrm>
            <a:off x="711182" y="4387552"/>
            <a:ext cx="376109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Safety First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300827" y="4114998"/>
            <a:ext cx="3589645" cy="679152"/>
          </a:xfrm>
          <a:prstGeom prst="rect">
            <a:avLst/>
          </a:prstGeom>
          <a:solidFill>
            <a:srgbClr val="EAF5F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Text 8"/>
          <p:cNvSpPr/>
          <p:nvPr/>
        </p:nvSpPr>
        <p:spPr>
          <a:xfrm>
            <a:off x="4529421" y="4387552"/>
            <a:ext cx="368489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Customer Value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042768" y="4114998"/>
            <a:ext cx="3665843" cy="679152"/>
          </a:xfrm>
          <a:prstGeom prst="rect">
            <a:avLst/>
          </a:prstGeom>
          <a:solidFill>
            <a:srgbClr val="EAF5F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2" name="Text 10"/>
          <p:cNvSpPr/>
          <p:nvPr/>
        </p:nvSpPr>
        <p:spPr>
          <a:xfrm>
            <a:off x="8271363" y="4387552"/>
            <a:ext cx="392033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Quality &amp; Engineering Excellence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482588" y="4946749"/>
            <a:ext cx="3665843" cy="679152"/>
          </a:xfrm>
          <a:prstGeom prst="rect">
            <a:avLst/>
          </a:prstGeom>
          <a:solidFill>
            <a:srgbClr val="EAF5F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4" name="Text 12"/>
          <p:cNvSpPr/>
          <p:nvPr/>
        </p:nvSpPr>
        <p:spPr>
          <a:xfrm>
            <a:off x="711182" y="5219105"/>
            <a:ext cx="376109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Integrity &amp; Accountability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300827" y="4946749"/>
            <a:ext cx="3589645" cy="679152"/>
          </a:xfrm>
          <a:prstGeom prst="rect">
            <a:avLst/>
          </a:prstGeom>
          <a:solidFill>
            <a:srgbClr val="EAF5F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6" name="Text 14"/>
          <p:cNvSpPr/>
          <p:nvPr/>
        </p:nvSpPr>
        <p:spPr>
          <a:xfrm>
            <a:off x="4529421" y="5219105"/>
            <a:ext cx="368489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Innovation &amp; Technology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042768" y="4946749"/>
            <a:ext cx="3665843" cy="679152"/>
          </a:xfrm>
          <a:prstGeom prst="rect">
            <a:avLst/>
          </a:prstGeom>
          <a:solidFill>
            <a:srgbClr val="EAF5F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Text 16"/>
          <p:cNvSpPr/>
          <p:nvPr/>
        </p:nvSpPr>
        <p:spPr>
          <a:xfrm>
            <a:off x="8271363" y="5219105"/>
            <a:ext cx="376118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Sustainability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58786" y="274260"/>
            <a:ext cx="461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84307" y="368300"/>
            <a:ext cx="7340218" cy="25400"/>
          </a:xfrm>
          <a:prstGeom prst="roundRect">
            <a:avLst>
              <a:gd name="adj" fmla="val 4999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1" name="Shape 19"/>
          <p:cNvSpPr/>
          <p:nvPr/>
        </p:nvSpPr>
        <p:spPr>
          <a:xfrm>
            <a:off x="11429416" y="254000"/>
            <a:ext cx="253994" cy="254000"/>
          </a:xfrm>
          <a:prstGeom prst="roundRect">
            <a:avLst>
              <a:gd name="adj" fmla="val 144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2" name="Shape 20"/>
          <p:cNvSpPr/>
          <p:nvPr/>
        </p:nvSpPr>
        <p:spPr>
          <a:xfrm>
            <a:off x="11226221" y="304800"/>
            <a:ext cx="152396" cy="152400"/>
          </a:xfrm>
          <a:prstGeom prst="roundRect">
            <a:avLst>
              <a:gd name="adj" fmla="val 24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1227574"/>
            <a:ext cx="1170910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kern="100" spc="115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VISION · MISSION · AMBITION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2588" y="1583849"/>
            <a:ext cx="11169073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Our direction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82588" y="2251353"/>
            <a:ext cx="11372565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 clear ambition guides how we build capability, serve customers and grow responsibly.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588" y="2804021"/>
            <a:ext cx="3704438" cy="31552"/>
          </a:xfrm>
          <a:prstGeom prst="roundRect">
            <a:avLst>
              <a:gd name="adj" fmla="val 49998"/>
            </a:avLst>
          </a:prstGeom>
          <a:solidFill>
            <a:srgbClr val="72D7C7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482588" y="3062684"/>
            <a:ext cx="5536863" cy="2494459"/>
          </a:xfrm>
          <a:prstGeom prst="rect">
            <a:avLst/>
          </a:prstGeom>
          <a:solidFill>
            <a:srgbClr val="EAF5F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/>
          <p:nvPr/>
        </p:nvSpPr>
        <p:spPr>
          <a:xfrm>
            <a:off x="787380" y="3414382"/>
            <a:ext cx="4870130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000" kern="100" spc="-2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VISION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7380" y="3805992"/>
            <a:ext cx="4927278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To become Egypt’s leading technology-enabled energy infrastructure company and a trusted energy partner across the region, making clean, reliable, safe and affordable energy solutions accessible to businesses, industries and communities.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1847" y="3062684"/>
            <a:ext cx="5536863" cy="2494459"/>
          </a:xfrm>
          <a:prstGeom prst="rect">
            <a:avLst/>
          </a:prstGeom>
          <a:solidFill>
            <a:srgbClr val="EAF5F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Text 8"/>
          <p:cNvSpPr/>
          <p:nvPr/>
        </p:nvSpPr>
        <p:spPr>
          <a:xfrm>
            <a:off x="6476640" y="3414382"/>
            <a:ext cx="4870130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000" kern="100" spc="-2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MISSION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6640" y="3805992"/>
            <a:ext cx="4870130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To design, engineer, deliver and operate integrated energy solutions that make clean, reliable, safe and affordable energy accessible, while reducing energy costs and carbon emissions, strengthening business continuity and creating lasting value.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8786" y="274260"/>
            <a:ext cx="461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84307" y="368300"/>
            <a:ext cx="7340218" cy="25400"/>
          </a:xfrm>
          <a:prstGeom prst="roundRect">
            <a:avLst>
              <a:gd name="adj" fmla="val 4999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4" name="Shape 12"/>
          <p:cNvSpPr/>
          <p:nvPr/>
        </p:nvSpPr>
        <p:spPr>
          <a:xfrm>
            <a:off x="11429416" y="254000"/>
            <a:ext cx="253994" cy="254000"/>
          </a:xfrm>
          <a:prstGeom prst="roundRect">
            <a:avLst>
              <a:gd name="adj" fmla="val 144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5" name="Shape 13"/>
          <p:cNvSpPr/>
          <p:nvPr/>
        </p:nvSpPr>
        <p:spPr>
          <a:xfrm>
            <a:off x="11226221" y="304800"/>
            <a:ext cx="152396" cy="152400"/>
          </a:xfrm>
          <a:prstGeom prst="roundRect">
            <a:avLst>
              <a:gd name="adj" fmla="val 24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1298885"/>
            <a:ext cx="11169073" cy="524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900" kern="100" spc="-39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Our 2030 ambition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482588" y="1969353"/>
            <a:ext cx="11169073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By 2030, Reservia aims to establish itself as a leading integrated energy and energy-infrastructure company in Egypt, with a growing regional presence and solutions spanning renewable energy, storage, smart energy and lifecycle services.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482588" y="3119735"/>
            <a:ext cx="3704438" cy="31552"/>
          </a:xfrm>
          <a:prstGeom prst="roundRect">
            <a:avLst>
              <a:gd name="adj" fmla="val 49998"/>
            </a:avLst>
          </a:prstGeom>
          <a:solidFill>
            <a:srgbClr val="72D7C7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482588" y="3370263"/>
            <a:ext cx="3665843" cy="1669852"/>
          </a:xfrm>
          <a:prstGeom prst="rect">
            <a:avLst/>
          </a:prstGeom>
          <a:solidFill>
            <a:srgbClr val="EAF5F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" name="Text 4"/>
          <p:cNvSpPr/>
          <p:nvPr/>
        </p:nvSpPr>
        <p:spPr>
          <a:xfrm>
            <a:off x="711182" y="3639859"/>
            <a:ext cx="3761090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0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MARKET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1182" y="3974084"/>
            <a:ext cx="3151506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 proven Egyptian platform with disciplined regional growth.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00827" y="3370263"/>
            <a:ext cx="3589645" cy="1669852"/>
          </a:xfrm>
          <a:prstGeom prst="rect">
            <a:avLst/>
          </a:prstGeom>
          <a:solidFill>
            <a:srgbClr val="EAF5F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9" name="Text 7"/>
          <p:cNvSpPr/>
          <p:nvPr/>
        </p:nvSpPr>
        <p:spPr>
          <a:xfrm>
            <a:off x="4529421" y="3639859"/>
            <a:ext cx="3684892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0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ENERGY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9421" y="3974084"/>
            <a:ext cx="3132456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Renewable generation and storage capacity deployed.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42768" y="3370263"/>
            <a:ext cx="3665843" cy="1669852"/>
          </a:xfrm>
          <a:prstGeom prst="rect">
            <a:avLst/>
          </a:prstGeom>
          <a:solidFill>
            <a:srgbClr val="EAF5F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2" name="Text 10"/>
          <p:cNvSpPr/>
          <p:nvPr/>
        </p:nvSpPr>
        <p:spPr>
          <a:xfrm>
            <a:off x="8271363" y="3639859"/>
            <a:ext cx="3761189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0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CUSTOMERS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71363" y="3974084"/>
            <a:ext cx="3151605" cy="850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 diversified base across residential, commercial, industrial and energy-intensive sectors.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82588" y="5108734"/>
            <a:ext cx="3665843" cy="1669852"/>
          </a:xfrm>
          <a:prstGeom prst="rect">
            <a:avLst/>
          </a:prstGeom>
          <a:solidFill>
            <a:srgbClr val="EAF5F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5" name="Text 13"/>
          <p:cNvSpPr/>
          <p:nvPr/>
        </p:nvSpPr>
        <p:spPr>
          <a:xfrm>
            <a:off x="711182" y="5378131"/>
            <a:ext cx="3761090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0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TECHNOLOGY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1182" y="5712456"/>
            <a:ext cx="3151506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Digital monitoring, control and energy optimization across assets.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300827" y="5108734"/>
            <a:ext cx="3589645" cy="1669852"/>
          </a:xfrm>
          <a:prstGeom prst="rect">
            <a:avLst/>
          </a:prstGeom>
          <a:solidFill>
            <a:srgbClr val="EAF5F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Text 16"/>
          <p:cNvSpPr/>
          <p:nvPr/>
        </p:nvSpPr>
        <p:spPr>
          <a:xfrm>
            <a:off x="4529421" y="5378131"/>
            <a:ext cx="3684892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0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LIFECYCLE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9421" y="5712456"/>
            <a:ext cx="3132456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 growing base of O&amp;M, monitoring and asset services.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42768" y="5108734"/>
            <a:ext cx="3665843" cy="1669852"/>
          </a:xfrm>
          <a:prstGeom prst="rect">
            <a:avLst/>
          </a:prstGeom>
          <a:solidFill>
            <a:srgbClr val="EAF5F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1" name="Text 19"/>
          <p:cNvSpPr/>
          <p:nvPr/>
        </p:nvSpPr>
        <p:spPr>
          <a:xfrm>
            <a:off x="8271363" y="5378131"/>
            <a:ext cx="3761189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0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IMPACT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71363" y="5712456"/>
            <a:ext cx="3208753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Measurable progress on energy cost and carbon emissions.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58786" y="279503"/>
            <a:ext cx="4615144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B7A6E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84307" y="368300"/>
            <a:ext cx="7340218" cy="25400"/>
          </a:xfrm>
          <a:prstGeom prst="roundRect">
            <a:avLst>
              <a:gd name="adj" fmla="val 4999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5" name="Shape 23"/>
          <p:cNvSpPr/>
          <p:nvPr/>
        </p:nvSpPr>
        <p:spPr>
          <a:xfrm>
            <a:off x="11429416" y="254000"/>
            <a:ext cx="253994" cy="254000"/>
          </a:xfrm>
          <a:prstGeom prst="roundRect">
            <a:avLst>
              <a:gd name="adj" fmla="val 144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6" name="Shape 24"/>
          <p:cNvSpPr/>
          <p:nvPr/>
        </p:nvSpPr>
        <p:spPr>
          <a:xfrm>
            <a:off x="11226221" y="304800"/>
            <a:ext cx="152396" cy="152400"/>
          </a:xfrm>
          <a:prstGeom prst="roundRect">
            <a:avLst>
              <a:gd name="adj" fmla="val 24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1227574"/>
            <a:ext cx="697827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kern="100" spc="115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RESERVIA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2588" y="1549598"/>
            <a:ext cx="5886104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kern="100" spc="-40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Energy, considered as a whole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82588" y="2833191"/>
            <a:ext cx="742931" cy="31552"/>
          </a:xfrm>
          <a:prstGeom prst="roundRect">
            <a:avLst>
              <a:gd name="adj" fmla="val 49998"/>
            </a:avLst>
          </a:prstGeom>
          <a:solidFill>
            <a:srgbClr val="F3B51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482588" y="3121700"/>
            <a:ext cx="5943253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brings generation, storage, smart controls and lifecycle support together around each customer’s needs.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2588" y="5902444"/>
            <a:ext cx="5943253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Egyptian energy-infrastructure company with a technology-enabled, customer-focused approach.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429" y="0"/>
            <a:ext cx="5282869" cy="685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8786" y="274260"/>
            <a:ext cx="461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D806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784307" y="368300"/>
            <a:ext cx="2463738" cy="25400"/>
          </a:xfrm>
          <a:prstGeom prst="roundRect">
            <a:avLst>
              <a:gd name="adj" fmla="val 4999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Shape 7"/>
          <p:cNvSpPr/>
          <p:nvPr/>
        </p:nvSpPr>
        <p:spPr>
          <a:xfrm>
            <a:off x="6552838" y="254000"/>
            <a:ext cx="253994" cy="254000"/>
          </a:xfrm>
          <a:prstGeom prst="roundRect">
            <a:avLst>
              <a:gd name="adj" fmla="val 144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1" name="Shape 8"/>
          <p:cNvSpPr/>
          <p:nvPr/>
        </p:nvSpPr>
        <p:spPr>
          <a:xfrm>
            <a:off x="6349643" y="304800"/>
            <a:ext cx="152396" cy="152400"/>
          </a:xfrm>
          <a:prstGeom prst="roundRect">
            <a:avLst>
              <a:gd name="adj" fmla="val 24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109" y="-1"/>
            <a:ext cx="4470090" cy="144329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778" y="0"/>
            <a:ext cx="1523962" cy="1371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2749" y="381000"/>
            <a:ext cx="2158946" cy="990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5720" y="0"/>
            <a:ext cx="1015975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500001">
            <a:off x="8127796" y="736598"/>
            <a:ext cx="2539936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500001">
            <a:off x="9270769" y="254002"/>
            <a:ext cx="2031949" cy="12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9500001">
            <a:off x="10540736" y="1066800"/>
            <a:ext cx="1650959" cy="12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1790" y="1270000"/>
            <a:ext cx="3047924" cy="190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406390" y="694174"/>
            <a:ext cx="7867255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kern="100" spc="115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ONE CONNECTED MODEL</a:t>
            </a:r>
            <a:endParaRPr lang="en-US" sz="1150" dirty="0"/>
          </a:p>
        </p:txBody>
      </p:sp>
      <p:sp>
        <p:nvSpPr>
          <p:cNvPr id="11" name="Text 1"/>
          <p:cNvSpPr/>
          <p:nvPr/>
        </p:nvSpPr>
        <p:spPr>
          <a:xfrm>
            <a:off x="406390" y="1047210"/>
            <a:ext cx="8662374" cy="430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200" kern="100" spc="-32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Generate | Store | Optimize | Sustain</a:t>
            </a:r>
            <a:endParaRPr lang="en-US" sz="3200" dirty="0"/>
          </a:p>
        </p:txBody>
      </p:sp>
      <p:sp>
        <p:nvSpPr>
          <p:cNvPr id="12" name="Text 2"/>
          <p:cNvSpPr/>
          <p:nvPr/>
        </p:nvSpPr>
        <p:spPr>
          <a:xfrm>
            <a:off x="406390" y="1630918"/>
            <a:ext cx="685128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One connected model for building cleaner, more reliable and more manageable energy systems.</a:t>
            </a:r>
            <a:endParaRPr lang="en-US" sz="1600" dirty="0"/>
          </a:p>
        </p:txBody>
      </p:sp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390" y="2371427"/>
            <a:ext cx="3454115" cy="1677888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987" y="2473027"/>
            <a:ext cx="406390" cy="406400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507987" y="3037483"/>
            <a:ext cx="3803356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Generate</a:t>
            </a:r>
            <a:endParaRPr lang="en-US" sz="1650" dirty="0"/>
          </a:p>
        </p:txBody>
      </p:sp>
      <p:sp>
        <p:nvSpPr>
          <p:cNvPr id="16" name="Text 4"/>
          <p:cNvSpPr/>
          <p:nvPr/>
        </p:nvSpPr>
        <p:spPr>
          <a:xfrm>
            <a:off x="507987" y="3385006"/>
            <a:ext cx="3193772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Renewable energy, led today by solar.</a:t>
            </a:r>
            <a:endParaRPr lang="en-US" sz="160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60505" y="2371427"/>
            <a:ext cx="3454115" cy="1677888"/>
          </a:xfrm>
          <a:prstGeom prst="rect">
            <a:avLst/>
          </a:prstGeom>
        </p:spPr>
      </p:pic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62102" y="2473027"/>
            <a:ext cx="406390" cy="406400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3962102" y="3037483"/>
            <a:ext cx="3803356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Store</a:t>
            </a:r>
            <a:endParaRPr lang="en-US" sz="1650" dirty="0"/>
          </a:p>
        </p:txBody>
      </p:sp>
      <p:sp>
        <p:nvSpPr>
          <p:cNvPr id="20" name="Text 6"/>
          <p:cNvSpPr/>
          <p:nvPr/>
        </p:nvSpPr>
        <p:spPr>
          <a:xfrm>
            <a:off x="3962102" y="3363674"/>
            <a:ext cx="441075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Flexibility, reliability and continuity.</a:t>
            </a:r>
            <a:endParaRPr lang="en-US" sz="160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6390" y="4049316"/>
            <a:ext cx="3454115" cy="1677888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7987" y="4150916"/>
            <a:ext cx="406390" cy="406400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507987" y="4715569"/>
            <a:ext cx="3803356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Optimize</a:t>
            </a:r>
            <a:endParaRPr lang="en-US" sz="1650" dirty="0"/>
          </a:p>
        </p:txBody>
      </p:sp>
      <p:sp>
        <p:nvSpPr>
          <p:cNvPr id="24" name="Text 8"/>
          <p:cNvSpPr/>
          <p:nvPr/>
        </p:nvSpPr>
        <p:spPr>
          <a:xfrm>
            <a:off x="507987" y="5041761"/>
            <a:ext cx="441075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Monitoring and intelligent controls.</a:t>
            </a:r>
            <a:endParaRPr lang="en-US" sz="160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60505" y="4049316"/>
            <a:ext cx="3454115" cy="1677888"/>
          </a:xfrm>
          <a:prstGeom prst="rect">
            <a:avLst/>
          </a:prstGeom>
        </p:spPr>
      </p:pic>
      <p:pic>
        <p:nvPicPr>
          <p:cNvPr id="26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62102" y="4150916"/>
            <a:ext cx="406390" cy="406400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3962102" y="4715569"/>
            <a:ext cx="3803356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Sustain</a:t>
            </a:r>
            <a:endParaRPr lang="en-US" sz="1650" dirty="0"/>
          </a:p>
        </p:txBody>
      </p:sp>
      <p:sp>
        <p:nvSpPr>
          <p:cNvPr id="28" name="Text 10"/>
          <p:cNvSpPr/>
          <p:nvPr/>
        </p:nvSpPr>
        <p:spPr>
          <a:xfrm>
            <a:off x="3962102" y="5063093"/>
            <a:ext cx="3193772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Operations, maintenance and improvement.</a:t>
            </a:r>
            <a:endParaRPr lang="en-US" sz="1600" dirty="0"/>
          </a:p>
        </p:txBody>
      </p:sp>
      <p:sp>
        <p:nvSpPr>
          <p:cNvPr id="29" name="Shape 11"/>
          <p:cNvSpPr/>
          <p:nvPr/>
        </p:nvSpPr>
        <p:spPr>
          <a:xfrm>
            <a:off x="3854155" y="2371427"/>
            <a:ext cx="12700" cy="1677888"/>
          </a:xfrm>
          <a:prstGeom prst="rect">
            <a:avLst/>
          </a:prstGeom>
          <a:solidFill>
            <a:srgbClr val="72D7C7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0" name="Shape 12"/>
          <p:cNvSpPr/>
          <p:nvPr/>
        </p:nvSpPr>
        <p:spPr>
          <a:xfrm>
            <a:off x="406390" y="4042966"/>
            <a:ext cx="3454115" cy="12700"/>
          </a:xfrm>
          <a:prstGeom prst="rect">
            <a:avLst/>
          </a:prstGeom>
          <a:solidFill>
            <a:srgbClr val="72D7C7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1" name="Shape 13"/>
          <p:cNvSpPr/>
          <p:nvPr/>
        </p:nvSpPr>
        <p:spPr>
          <a:xfrm>
            <a:off x="3854155" y="4049316"/>
            <a:ext cx="12700" cy="1677888"/>
          </a:xfrm>
          <a:prstGeom prst="rect">
            <a:avLst/>
          </a:prstGeom>
          <a:solidFill>
            <a:srgbClr val="72D7C7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2" name="Shape 14"/>
          <p:cNvSpPr/>
          <p:nvPr/>
        </p:nvSpPr>
        <p:spPr>
          <a:xfrm>
            <a:off x="3860505" y="4042966"/>
            <a:ext cx="3454115" cy="12700"/>
          </a:xfrm>
          <a:prstGeom prst="rect">
            <a:avLst/>
          </a:prstGeom>
          <a:solidFill>
            <a:srgbClr val="72D7C7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21109" y="1371600"/>
            <a:ext cx="4470090" cy="5486400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21109" y="1371600"/>
            <a:ext cx="4470090" cy="355600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558786" y="274260"/>
            <a:ext cx="461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5B4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</a:t>
            </a:r>
            <a:endParaRPr lang="en-US" sz="1200" dirty="0"/>
          </a:p>
        </p:txBody>
      </p:sp>
      <p:sp>
        <p:nvSpPr>
          <p:cNvPr id="36" name="Shape 16"/>
          <p:cNvSpPr/>
          <p:nvPr/>
        </p:nvSpPr>
        <p:spPr>
          <a:xfrm>
            <a:off x="3784307" y="368300"/>
            <a:ext cx="3276320" cy="25400"/>
          </a:xfrm>
          <a:prstGeom prst="roundRect">
            <a:avLst>
              <a:gd name="adj" fmla="val 4999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7" name="Shape 17"/>
          <p:cNvSpPr/>
          <p:nvPr/>
        </p:nvSpPr>
        <p:spPr>
          <a:xfrm>
            <a:off x="7162422" y="304800"/>
            <a:ext cx="152396" cy="152400"/>
          </a:xfrm>
          <a:prstGeom prst="roundRect">
            <a:avLst>
              <a:gd name="adj" fmla="val 24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8" name="Shape 18"/>
          <p:cNvSpPr/>
          <p:nvPr/>
        </p:nvSpPr>
        <p:spPr>
          <a:xfrm>
            <a:off x="7365617" y="254000"/>
            <a:ext cx="253994" cy="254000"/>
          </a:xfrm>
          <a:prstGeom prst="roundRect">
            <a:avLst>
              <a:gd name="adj" fmla="val 144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1227574"/>
            <a:ext cx="1170910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kern="100" spc="115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PLATFORM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2588" y="1583849"/>
            <a:ext cx="11169073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Five pillars, one 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82588" y="2250639"/>
            <a:ext cx="1170910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Integration is the advantage: each capability supports the next across the asset lifecycle.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88" y="2717998"/>
            <a:ext cx="2245165" cy="370810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82" y="2946598"/>
            <a:ext cx="507987" cy="50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1182" y="3612654"/>
            <a:ext cx="2729836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Renewable energy</a:t>
            </a:r>
            <a:endParaRPr lang="en-US" sz="16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7753" y="2717998"/>
            <a:ext cx="2245165" cy="370810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6347" y="2946598"/>
            <a:ext cx="507987" cy="508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956347" y="3623171"/>
            <a:ext cx="1730828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Storage &amp; resilience</a:t>
            </a:r>
            <a:endParaRPr lang="en-US" sz="16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918" y="2717998"/>
            <a:ext cx="2245264" cy="3708102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1512" y="2946598"/>
            <a:ext cx="507987" cy="5080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201512" y="3612654"/>
            <a:ext cx="234051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Smart energy</a:t>
            </a:r>
            <a:endParaRPr lang="en-US" sz="1650" dirty="0"/>
          </a:p>
        </p:txBody>
      </p:sp>
      <p:sp>
        <p:nvSpPr>
          <p:cNvPr id="14" name="Shape 6"/>
          <p:cNvSpPr/>
          <p:nvPr/>
        </p:nvSpPr>
        <p:spPr>
          <a:xfrm>
            <a:off x="7218182" y="2717998"/>
            <a:ext cx="2245165" cy="3708102"/>
          </a:xfrm>
          <a:prstGeom prst="rect">
            <a:avLst/>
          </a:prstGeom>
          <a:solidFill>
            <a:srgbClr val="C8E6C9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6776" y="2946598"/>
            <a:ext cx="507987" cy="5080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446776" y="3623171"/>
            <a:ext cx="1730828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EPC &amp; energy infrastructure</a:t>
            </a:r>
            <a:endParaRPr lang="en-US" sz="165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3545" y="2717998"/>
            <a:ext cx="2245264" cy="3708102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2140" y="2946598"/>
            <a:ext cx="507987" cy="5080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9692140" y="3623171"/>
            <a:ext cx="1730927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Sustainability &amp; lifecycle services</a:t>
            </a:r>
            <a:endParaRPr lang="en-US" sz="1650" dirty="0"/>
          </a:p>
        </p:txBody>
      </p:sp>
      <p:sp>
        <p:nvSpPr>
          <p:cNvPr id="20" name="Shape 9"/>
          <p:cNvSpPr/>
          <p:nvPr/>
        </p:nvSpPr>
        <p:spPr>
          <a:xfrm>
            <a:off x="2721403" y="2717998"/>
            <a:ext cx="12700" cy="370810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1" name="Shape 10"/>
          <p:cNvSpPr/>
          <p:nvPr/>
        </p:nvSpPr>
        <p:spPr>
          <a:xfrm>
            <a:off x="4966568" y="2717998"/>
            <a:ext cx="12700" cy="370810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2" name="Shape 11"/>
          <p:cNvSpPr/>
          <p:nvPr/>
        </p:nvSpPr>
        <p:spPr>
          <a:xfrm>
            <a:off x="7211832" y="2717998"/>
            <a:ext cx="12700" cy="370810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3" name="Shape 12"/>
          <p:cNvSpPr/>
          <p:nvPr/>
        </p:nvSpPr>
        <p:spPr>
          <a:xfrm>
            <a:off x="9457195" y="2717998"/>
            <a:ext cx="12700" cy="370810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4" name="Text 13"/>
          <p:cNvSpPr/>
          <p:nvPr/>
        </p:nvSpPr>
        <p:spPr>
          <a:xfrm>
            <a:off x="558786" y="274260"/>
            <a:ext cx="461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5B4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</a:t>
            </a:r>
            <a:endParaRPr lang="en-US" sz="1200" dirty="0"/>
          </a:p>
        </p:txBody>
      </p:sp>
      <p:sp>
        <p:nvSpPr>
          <p:cNvPr id="25" name="Shape 14"/>
          <p:cNvSpPr/>
          <p:nvPr/>
        </p:nvSpPr>
        <p:spPr>
          <a:xfrm>
            <a:off x="3784307" y="368300"/>
            <a:ext cx="7340218" cy="25400"/>
          </a:xfrm>
          <a:prstGeom prst="roundRect">
            <a:avLst>
              <a:gd name="adj" fmla="val 4999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6" name="Shape 15"/>
          <p:cNvSpPr/>
          <p:nvPr/>
        </p:nvSpPr>
        <p:spPr>
          <a:xfrm>
            <a:off x="11429416" y="254000"/>
            <a:ext cx="253994" cy="254000"/>
          </a:xfrm>
          <a:prstGeom prst="roundRect">
            <a:avLst>
              <a:gd name="adj" fmla="val 144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7" name="Shape 16"/>
          <p:cNvSpPr/>
          <p:nvPr/>
        </p:nvSpPr>
        <p:spPr>
          <a:xfrm>
            <a:off x="11226221" y="304800"/>
            <a:ext cx="152396" cy="152400"/>
          </a:xfrm>
          <a:prstGeom prst="roundRect">
            <a:avLst>
              <a:gd name="adj" fmla="val 24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084" y="0"/>
            <a:ext cx="304792" cy="304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084" y="304800"/>
            <a:ext cx="304792" cy="30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084" y="609600"/>
            <a:ext cx="304792" cy="30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7084" y="914400"/>
            <a:ext cx="304792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876" y="0"/>
            <a:ext cx="304792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1876" y="304800"/>
            <a:ext cx="304792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1876" y="609600"/>
            <a:ext cx="304792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1876" y="914400"/>
            <a:ext cx="304792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6669" y="0"/>
            <a:ext cx="304792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6669" y="304800"/>
            <a:ext cx="304792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46669" y="609600"/>
            <a:ext cx="304792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46669" y="914400"/>
            <a:ext cx="304792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51461" y="0"/>
            <a:ext cx="304792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51461" y="304800"/>
            <a:ext cx="304792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51461" y="609600"/>
            <a:ext cx="304792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51461" y="914400"/>
            <a:ext cx="304792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56253" y="0"/>
            <a:ext cx="304792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56253" y="304800"/>
            <a:ext cx="304792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56253" y="609600"/>
            <a:ext cx="304792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56253" y="914400"/>
            <a:ext cx="304792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61046" y="0"/>
            <a:ext cx="304792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61046" y="304800"/>
            <a:ext cx="304792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61046" y="609600"/>
            <a:ext cx="304792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61046" y="914400"/>
            <a:ext cx="304792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565838" y="0"/>
            <a:ext cx="304792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65838" y="304800"/>
            <a:ext cx="304792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65838" y="609600"/>
            <a:ext cx="304792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565838" y="914400"/>
            <a:ext cx="304792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870630" y="0"/>
            <a:ext cx="304792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70630" y="304800"/>
            <a:ext cx="304792" cy="304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70630" y="609600"/>
            <a:ext cx="304792" cy="304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870630" y="914400"/>
            <a:ext cx="304792" cy="3048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175423" y="0"/>
            <a:ext cx="253994" cy="254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175423" y="254000"/>
            <a:ext cx="253994" cy="2540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1175423" y="508000"/>
            <a:ext cx="253994" cy="2540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175423" y="762000"/>
            <a:ext cx="253994" cy="2540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429416" y="0"/>
            <a:ext cx="253994" cy="2540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429416" y="254000"/>
            <a:ext cx="253994" cy="2540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429416" y="508000"/>
            <a:ext cx="253994" cy="2540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429416" y="762000"/>
            <a:ext cx="253994" cy="2540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683410" y="0"/>
            <a:ext cx="253994" cy="2540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683410" y="254000"/>
            <a:ext cx="253994" cy="2540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683410" y="508000"/>
            <a:ext cx="253994" cy="2540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683410" y="762000"/>
            <a:ext cx="253994" cy="2540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1937404" y="0"/>
            <a:ext cx="253795" cy="2540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1937404" y="254000"/>
            <a:ext cx="253795" cy="2540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1937404" y="508000"/>
            <a:ext cx="253795" cy="2540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1937404" y="762000"/>
            <a:ext cx="253795" cy="2540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1175423" y="1016000"/>
            <a:ext cx="203195" cy="2032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1378618" y="1016000"/>
            <a:ext cx="203195" cy="2032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1581813" y="1016000"/>
            <a:ext cx="203195" cy="2032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1785008" y="1016000"/>
            <a:ext cx="203195" cy="2032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1988202" y="1016000"/>
            <a:ext cx="202996" cy="2032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737084" y="0"/>
            <a:ext cx="3454115" cy="12192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737084" y="0"/>
            <a:ext cx="3454115" cy="12192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0870630" y="0"/>
            <a:ext cx="1219170" cy="381000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737084" y="609600"/>
            <a:ext cx="761981" cy="609600"/>
          </a:xfrm>
          <a:prstGeom prst="rect">
            <a:avLst/>
          </a:prstGeom>
        </p:spPr>
      </p:pic>
      <p:sp>
        <p:nvSpPr>
          <p:cNvPr id="59" name="Shape 0"/>
          <p:cNvSpPr/>
          <p:nvPr/>
        </p:nvSpPr>
        <p:spPr>
          <a:xfrm>
            <a:off x="11582110" y="0"/>
            <a:ext cx="25399" cy="1219200"/>
          </a:xfrm>
          <a:prstGeom prst="roundRect">
            <a:avLst>
              <a:gd name="adj" fmla="val 50001"/>
            </a:avLst>
          </a:prstGeom>
          <a:solidFill>
            <a:srgbClr val="1A8C7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0" name="Text 1"/>
          <p:cNvSpPr/>
          <p:nvPr/>
        </p:nvSpPr>
        <p:spPr>
          <a:xfrm>
            <a:off x="482588" y="1227574"/>
            <a:ext cx="8806932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kern="100" spc="115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DELIVERY PATH</a:t>
            </a:r>
            <a:endParaRPr lang="en-US" sz="1150" dirty="0"/>
          </a:p>
        </p:txBody>
      </p:sp>
      <p:sp>
        <p:nvSpPr>
          <p:cNvPr id="61" name="Text 2"/>
          <p:cNvSpPr/>
          <p:nvPr/>
        </p:nvSpPr>
        <p:spPr>
          <a:xfrm>
            <a:off x="482588" y="1549598"/>
            <a:ext cx="7816357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kern="100" spc="-40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From the first question to delivered asset</a:t>
            </a:r>
            <a:endParaRPr lang="en-US" sz="4000" dirty="0"/>
          </a:p>
        </p:txBody>
      </p:sp>
      <p:sp>
        <p:nvSpPr>
          <p:cNvPr id="62" name="Text 3"/>
          <p:cNvSpPr/>
          <p:nvPr/>
        </p:nvSpPr>
        <p:spPr>
          <a:xfrm>
            <a:off x="482588" y="2810431"/>
            <a:ext cx="781635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 disciplined path keeps scope, assumptions and decisions visible from discovery to operation.</a:t>
            </a:r>
            <a:endParaRPr lang="en-US" sz="1600" dirty="0"/>
          </a:p>
        </p:txBody>
      </p:sp>
      <p:sp>
        <p:nvSpPr>
          <p:cNvPr id="63" name="Text 4"/>
          <p:cNvSpPr/>
          <p:nvPr/>
        </p:nvSpPr>
        <p:spPr>
          <a:xfrm>
            <a:off x="482588" y="3572371"/>
            <a:ext cx="7873505" cy="176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Discover objectives and constraints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Assess data, site and suitability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Design technical options and scenarios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Structure commercial pathways and delivery scope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Deliver procurement, construction, integration and commissioning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 startAt="6"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Operate &amp; improve through monitoring and maintenance</a:t>
            </a:r>
            <a:endParaRPr lang="en-US" sz="1600" dirty="0"/>
          </a:p>
        </p:txBody>
      </p:sp>
      <p:pic>
        <p:nvPicPr>
          <p:cNvPr id="64" name="Image 57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737084" y="1219200"/>
            <a:ext cx="3454115" cy="5638800"/>
          </a:xfrm>
          <a:prstGeom prst="rect">
            <a:avLst/>
          </a:prstGeom>
        </p:spPr>
      </p:pic>
      <p:sp>
        <p:nvSpPr>
          <p:cNvPr id="65" name="Text 5"/>
          <p:cNvSpPr/>
          <p:nvPr/>
        </p:nvSpPr>
        <p:spPr>
          <a:xfrm>
            <a:off x="558786" y="274260"/>
            <a:ext cx="461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5B4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</a:t>
            </a:r>
            <a:endParaRPr lang="en-US" sz="1200" dirty="0"/>
          </a:p>
        </p:txBody>
      </p:sp>
      <p:sp>
        <p:nvSpPr>
          <p:cNvPr id="66" name="Shape 6"/>
          <p:cNvSpPr/>
          <p:nvPr/>
        </p:nvSpPr>
        <p:spPr>
          <a:xfrm>
            <a:off x="3784307" y="368300"/>
            <a:ext cx="4292294" cy="25400"/>
          </a:xfrm>
          <a:prstGeom prst="roundRect">
            <a:avLst>
              <a:gd name="adj" fmla="val 4999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7" name="Shape 7"/>
          <p:cNvSpPr/>
          <p:nvPr/>
        </p:nvSpPr>
        <p:spPr>
          <a:xfrm>
            <a:off x="8381493" y="254000"/>
            <a:ext cx="253994" cy="254000"/>
          </a:xfrm>
          <a:prstGeom prst="roundRect">
            <a:avLst>
              <a:gd name="adj" fmla="val 144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8" name="Shape 8"/>
          <p:cNvSpPr/>
          <p:nvPr/>
        </p:nvSpPr>
        <p:spPr>
          <a:xfrm>
            <a:off x="8178298" y="304800"/>
            <a:ext cx="152396" cy="152400"/>
          </a:xfrm>
          <a:prstGeom prst="roundRect">
            <a:avLst>
              <a:gd name="adj" fmla="val 24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1227574"/>
            <a:ext cx="1170910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kern="100" spc="115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START WITH THE SITE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2588" y="1583849"/>
            <a:ext cx="11169073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Services that start with the site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82588" y="2250639"/>
            <a:ext cx="1170910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final design reflects the site, customer objectives, applicable requirements and agreed scope.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2588" y="2717998"/>
            <a:ext cx="11226221" cy="3733502"/>
          </a:xfrm>
          <a:prstGeom prst="rect">
            <a:avLst/>
          </a:prstGeom>
          <a:noFill/>
          <a:ln w="6350">
            <a:solidFill>
              <a:srgbClr val="72D7C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488938" y="2724348"/>
            <a:ext cx="3661477" cy="1784152"/>
          </a:xfrm>
          <a:prstGeom prst="rect">
            <a:avLst/>
          </a:prstGeom>
          <a:solidFill>
            <a:srgbClr val="F3EEE2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32" y="2952948"/>
            <a:ext cx="507987" cy="50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7532" y="3629521"/>
            <a:ext cx="3204289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Energy needs assessment and site survey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302811" y="2724348"/>
            <a:ext cx="3610877" cy="1784152"/>
          </a:xfrm>
          <a:prstGeom prst="rect">
            <a:avLst/>
          </a:prstGeom>
          <a:solidFill>
            <a:srgbClr val="F3EEE2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405" y="2952948"/>
            <a:ext cx="507987" cy="50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1405" y="3629521"/>
            <a:ext cx="3096540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Feasibility, concept and detailed engineering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8066183" y="2724348"/>
            <a:ext cx="3636276" cy="1784152"/>
          </a:xfrm>
          <a:prstGeom prst="rect">
            <a:avLst/>
          </a:prstGeom>
          <a:solidFill>
            <a:srgbClr val="F3EEE2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4778" y="2952948"/>
            <a:ext cx="507987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94778" y="3619004"/>
            <a:ext cx="3896917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Yield and performance modeling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488938" y="4660999"/>
            <a:ext cx="3661477" cy="1784152"/>
          </a:xfrm>
          <a:prstGeom prst="rect">
            <a:avLst/>
          </a:prstGeom>
          <a:solidFill>
            <a:srgbClr val="F3EEE2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32" y="4889599"/>
            <a:ext cx="507987" cy="508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7532" y="5566172"/>
            <a:ext cx="3147140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Technical and commercial evaluation</a:t>
            </a:r>
            <a:endParaRPr lang="en-US" sz="1650" dirty="0"/>
          </a:p>
        </p:txBody>
      </p:sp>
      <p:sp>
        <p:nvSpPr>
          <p:cNvPr id="18" name="Shape 12"/>
          <p:cNvSpPr/>
          <p:nvPr/>
        </p:nvSpPr>
        <p:spPr>
          <a:xfrm>
            <a:off x="4302811" y="4660999"/>
            <a:ext cx="7399549" cy="1784152"/>
          </a:xfrm>
          <a:prstGeom prst="rect">
            <a:avLst/>
          </a:prstGeom>
          <a:solidFill>
            <a:srgbClr val="F3EEE2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1405" y="4889599"/>
            <a:ext cx="507987" cy="5080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31405" y="5555655"/>
            <a:ext cx="7494797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Permitting and interface coordination</a:t>
            </a:r>
            <a:endParaRPr lang="en-US" sz="1650" dirty="0"/>
          </a:p>
        </p:txBody>
      </p:sp>
      <p:sp>
        <p:nvSpPr>
          <p:cNvPr id="21" name="Text 14"/>
          <p:cNvSpPr/>
          <p:nvPr/>
        </p:nvSpPr>
        <p:spPr>
          <a:xfrm>
            <a:off x="558786" y="274260"/>
            <a:ext cx="461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D806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3784307" y="368300"/>
            <a:ext cx="7340218" cy="25400"/>
          </a:xfrm>
          <a:prstGeom prst="roundRect">
            <a:avLst>
              <a:gd name="adj" fmla="val 4999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3" name="Shape 16"/>
          <p:cNvSpPr/>
          <p:nvPr/>
        </p:nvSpPr>
        <p:spPr>
          <a:xfrm>
            <a:off x="11429416" y="254000"/>
            <a:ext cx="253994" cy="254000"/>
          </a:xfrm>
          <a:prstGeom prst="roundRect">
            <a:avLst>
              <a:gd name="adj" fmla="val 144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4" name="Shape 17"/>
          <p:cNvSpPr/>
          <p:nvPr/>
        </p:nvSpPr>
        <p:spPr>
          <a:xfrm>
            <a:off x="11226221" y="304800"/>
            <a:ext cx="152396" cy="152400"/>
          </a:xfrm>
          <a:prstGeom prst="roundRect">
            <a:avLst>
              <a:gd name="adj" fmla="val 24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89259" cy="1219200"/>
          </a:xfrm>
          <a:prstGeom prst="rect">
            <a:avLst/>
          </a:prstGeom>
          <a:solidFill>
            <a:srgbClr val="063026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0"/>
            <a:ext cx="5689259" cy="3048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689259" cy="12192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496" y="0"/>
            <a:ext cx="1523962" cy="508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539936" cy="3048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219200"/>
            <a:ext cx="5689259" cy="56388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6171847" y="1227574"/>
            <a:ext cx="6019848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kern="100" spc="115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DELIVERY TO HANDOVER</a:t>
            </a:r>
            <a:endParaRPr lang="en-US" sz="1150" dirty="0"/>
          </a:p>
        </p:txBody>
      </p:sp>
      <p:sp>
        <p:nvSpPr>
          <p:cNvPr id="9" name="Text 2"/>
          <p:cNvSpPr/>
          <p:nvPr/>
        </p:nvSpPr>
        <p:spPr>
          <a:xfrm>
            <a:off x="6171847" y="1549598"/>
            <a:ext cx="5479714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kern="100" spc="-40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Delivery that becomes a working system</a:t>
            </a:r>
            <a:endParaRPr lang="en-US" sz="4000" dirty="0"/>
          </a:p>
        </p:txBody>
      </p:sp>
      <p:sp>
        <p:nvSpPr>
          <p:cNvPr id="10" name="Text 3"/>
          <p:cNvSpPr/>
          <p:nvPr/>
        </p:nvSpPr>
        <p:spPr>
          <a:xfrm>
            <a:off x="6171847" y="2810431"/>
            <a:ext cx="5479714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Procurement, construction, electrical integration, testing, commissioning and handover are coordinated against the approved design.</a:t>
            </a:r>
            <a:endParaRPr lang="en-US" sz="1600" dirty="0"/>
          </a:p>
        </p:txBody>
      </p:sp>
      <p:sp>
        <p:nvSpPr>
          <p:cNvPr id="11" name="Shape 4"/>
          <p:cNvSpPr/>
          <p:nvPr/>
        </p:nvSpPr>
        <p:spPr>
          <a:xfrm>
            <a:off x="6171847" y="3894832"/>
            <a:ext cx="692133" cy="31552"/>
          </a:xfrm>
          <a:prstGeom prst="roundRect">
            <a:avLst>
              <a:gd name="adj" fmla="val 49998"/>
            </a:avLst>
          </a:prstGeom>
          <a:solidFill>
            <a:srgbClr val="005B4F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2" name="Text 5"/>
          <p:cNvSpPr/>
          <p:nvPr/>
        </p:nvSpPr>
        <p:spPr>
          <a:xfrm>
            <a:off x="6171847" y="4207768"/>
            <a:ext cx="2634986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Safety and quality stay embedded</a:t>
            </a:r>
            <a:endParaRPr lang="en-US" sz="1650" dirty="0"/>
          </a:p>
        </p:txBody>
      </p:sp>
      <p:sp>
        <p:nvSpPr>
          <p:cNvPr id="13" name="Text 6"/>
          <p:cNvSpPr/>
          <p:nvPr/>
        </p:nvSpPr>
        <p:spPr>
          <a:xfrm>
            <a:off x="6171847" y="4766925"/>
            <a:ext cx="2692134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Across design, procurement, construction, commissioning and operations.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9016477" y="4207768"/>
            <a:ext cx="2634986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Handover supports the customer team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9016477" y="4766925"/>
            <a:ext cx="263498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Documentation, operating guidance and training complete the transition.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222646" y="274260"/>
            <a:ext cx="461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5B4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9448266" y="368300"/>
            <a:ext cx="1676358" cy="25400"/>
          </a:xfrm>
          <a:prstGeom prst="roundRect">
            <a:avLst>
              <a:gd name="adj" fmla="val 4999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Shape 11"/>
          <p:cNvSpPr/>
          <p:nvPr/>
        </p:nvSpPr>
        <p:spPr>
          <a:xfrm>
            <a:off x="11429416" y="254000"/>
            <a:ext cx="253994" cy="254000"/>
          </a:xfrm>
          <a:prstGeom prst="roundRect">
            <a:avLst>
              <a:gd name="adj" fmla="val 144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9" name="Shape 12"/>
          <p:cNvSpPr/>
          <p:nvPr/>
        </p:nvSpPr>
        <p:spPr>
          <a:xfrm>
            <a:off x="11226221" y="304800"/>
            <a:ext cx="152396" cy="152400"/>
          </a:xfrm>
          <a:prstGeom prst="roundRect">
            <a:avLst>
              <a:gd name="adj" fmla="val 24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109" y="0"/>
            <a:ext cx="4470090" cy="1219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109" y="0"/>
            <a:ext cx="4470090" cy="1219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109" y="0"/>
            <a:ext cx="4470090" cy="1219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9674" y="0"/>
            <a:ext cx="1162021" cy="711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9674" y="711200"/>
            <a:ext cx="1162021" cy="50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1759" y="660400"/>
            <a:ext cx="711182" cy="558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1109" y="838200"/>
            <a:ext cx="761981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21109" y="1066800"/>
            <a:ext cx="4470090" cy="1524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07987" y="1221180"/>
            <a:ext cx="7765657" cy="185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100" spc="106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BEYOND DAYLIGHT</a:t>
            </a:r>
            <a:endParaRPr lang="en-US" sz="1050" dirty="0"/>
          </a:p>
        </p:txBody>
      </p:sp>
      <p:sp>
        <p:nvSpPr>
          <p:cNvPr id="11" name="Text 1"/>
          <p:cNvSpPr/>
          <p:nvPr/>
        </p:nvSpPr>
        <p:spPr>
          <a:xfrm>
            <a:off x="507987" y="1522432"/>
            <a:ext cx="6749683" cy="892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700" kern="100" spc="-37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Energy that works beyond daylight</a:t>
            </a:r>
            <a:endParaRPr lang="en-US" sz="3700" dirty="0"/>
          </a:p>
        </p:txBody>
      </p:sp>
      <p:sp>
        <p:nvSpPr>
          <p:cNvPr id="12" name="Shape 2"/>
          <p:cNvSpPr/>
          <p:nvPr/>
        </p:nvSpPr>
        <p:spPr>
          <a:xfrm>
            <a:off x="507987" y="2633762"/>
            <a:ext cx="3327118" cy="2037655"/>
          </a:xfrm>
          <a:prstGeom prst="rect">
            <a:avLst/>
          </a:prstGeom>
          <a:solidFill>
            <a:srgbClr val="F3EEE2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6582" y="2862362"/>
            <a:ext cx="374442" cy="374452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736582" y="3375243"/>
            <a:ext cx="3422366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500" kern="100" spc="-15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Align</a:t>
            </a:r>
            <a:endParaRPr lang="en-US" sz="1500" dirty="0"/>
          </a:p>
        </p:txBody>
      </p:sp>
      <p:sp>
        <p:nvSpPr>
          <p:cNvPr id="15" name="Text 4"/>
          <p:cNvSpPr/>
          <p:nvPr/>
        </p:nvSpPr>
        <p:spPr>
          <a:xfrm>
            <a:off x="736582" y="3687469"/>
            <a:ext cx="2812781" cy="767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Storage aligns clean generation with changing demand and operating priorities.</a:t>
            </a:r>
            <a:endParaRPr lang="en-US" sz="1450" dirty="0"/>
          </a:p>
        </p:txBody>
      </p:sp>
      <p:sp>
        <p:nvSpPr>
          <p:cNvPr id="16" name="Shape 5"/>
          <p:cNvSpPr/>
          <p:nvPr/>
        </p:nvSpPr>
        <p:spPr>
          <a:xfrm>
            <a:off x="3987502" y="2633762"/>
            <a:ext cx="3327118" cy="2037655"/>
          </a:xfrm>
          <a:prstGeom prst="rect">
            <a:avLst/>
          </a:prstGeom>
          <a:solidFill>
            <a:srgbClr val="F3EEE2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16096" y="2862362"/>
            <a:ext cx="374442" cy="374452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4216096" y="3375243"/>
            <a:ext cx="3422366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500" kern="100" spc="-15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Protect</a:t>
            </a:r>
            <a:endParaRPr lang="en-US" sz="1500" dirty="0"/>
          </a:p>
        </p:txBody>
      </p:sp>
      <p:sp>
        <p:nvSpPr>
          <p:cNvPr id="19" name="Text 7"/>
          <p:cNvSpPr/>
          <p:nvPr/>
        </p:nvSpPr>
        <p:spPr>
          <a:xfrm>
            <a:off x="4216096" y="3687469"/>
            <a:ext cx="2812781" cy="767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Resilience planning considers backup, continuity needs and critical loads.</a:t>
            </a:r>
            <a:endParaRPr lang="en-US" sz="1450" dirty="0"/>
          </a:p>
        </p:txBody>
      </p:sp>
      <p:sp>
        <p:nvSpPr>
          <p:cNvPr id="20" name="Shape 8"/>
          <p:cNvSpPr/>
          <p:nvPr/>
        </p:nvSpPr>
        <p:spPr>
          <a:xfrm>
            <a:off x="507987" y="4767930"/>
            <a:ext cx="3327118" cy="2037655"/>
          </a:xfrm>
          <a:prstGeom prst="rect">
            <a:avLst/>
          </a:prstGeom>
          <a:solidFill>
            <a:srgbClr val="F3EEE2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582" y="4996530"/>
            <a:ext cx="374442" cy="374452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736582" y="5509214"/>
            <a:ext cx="3422366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500" kern="100" spc="-15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See</a:t>
            </a:r>
            <a:endParaRPr lang="en-US" sz="1500" dirty="0"/>
          </a:p>
        </p:txBody>
      </p:sp>
      <p:sp>
        <p:nvSpPr>
          <p:cNvPr id="23" name="Text 10"/>
          <p:cNvSpPr/>
          <p:nvPr/>
        </p:nvSpPr>
        <p:spPr>
          <a:xfrm>
            <a:off x="736582" y="5821638"/>
            <a:ext cx="2812781" cy="767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Monitoring and control improve visibility across generation, storage and consumption.</a:t>
            </a:r>
            <a:endParaRPr lang="en-US" sz="1450" dirty="0"/>
          </a:p>
        </p:txBody>
      </p:sp>
      <p:sp>
        <p:nvSpPr>
          <p:cNvPr id="24" name="Shape 11"/>
          <p:cNvSpPr/>
          <p:nvPr/>
        </p:nvSpPr>
        <p:spPr>
          <a:xfrm>
            <a:off x="3987502" y="4767930"/>
            <a:ext cx="3327118" cy="2037655"/>
          </a:xfrm>
          <a:prstGeom prst="rect">
            <a:avLst/>
          </a:prstGeom>
          <a:solidFill>
            <a:srgbClr val="F3EEE2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16096" y="4996530"/>
            <a:ext cx="374442" cy="374452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4216096" y="5509214"/>
            <a:ext cx="3422366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500" kern="100" spc="-15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Decide</a:t>
            </a:r>
            <a:endParaRPr lang="en-US" sz="1500" dirty="0"/>
          </a:p>
        </p:txBody>
      </p:sp>
      <p:sp>
        <p:nvSpPr>
          <p:cNvPr id="27" name="Text 13"/>
          <p:cNvSpPr/>
          <p:nvPr/>
        </p:nvSpPr>
        <p:spPr>
          <a:xfrm>
            <a:off x="4216096" y="5821638"/>
            <a:ext cx="2812781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Optimization turns available data into better operating decisions.</a:t>
            </a:r>
            <a:endParaRPr lang="en-US" sz="1450" dirty="0"/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21109" y="1219200"/>
            <a:ext cx="4470090" cy="5638800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558786" y="290385"/>
            <a:ext cx="4362142" cy="19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5B4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</a:t>
            </a:r>
            <a:endParaRPr lang="en-US" sz="1100" dirty="0"/>
          </a:p>
        </p:txBody>
      </p:sp>
      <p:sp>
        <p:nvSpPr>
          <p:cNvPr id="30" name="Shape 15"/>
          <p:cNvSpPr/>
          <p:nvPr/>
        </p:nvSpPr>
        <p:spPr>
          <a:xfrm>
            <a:off x="3784307" y="368300"/>
            <a:ext cx="2971527" cy="25400"/>
          </a:xfrm>
          <a:prstGeom prst="roundRect">
            <a:avLst>
              <a:gd name="adj" fmla="val 4999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1" name="Shape 16"/>
          <p:cNvSpPr/>
          <p:nvPr/>
        </p:nvSpPr>
        <p:spPr>
          <a:xfrm>
            <a:off x="7060825" y="254000"/>
            <a:ext cx="253994" cy="254000"/>
          </a:xfrm>
          <a:prstGeom prst="roundRect">
            <a:avLst>
              <a:gd name="adj" fmla="val 144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2" name="Shape 17"/>
          <p:cNvSpPr/>
          <p:nvPr/>
        </p:nvSpPr>
        <p:spPr>
          <a:xfrm>
            <a:off x="6857630" y="304800"/>
            <a:ext cx="152396" cy="152400"/>
          </a:xfrm>
          <a:prstGeom prst="roundRect">
            <a:avLst>
              <a:gd name="adj" fmla="val 24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1125974"/>
            <a:ext cx="1170910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kern="100" spc="115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WHERE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2588" y="1482249"/>
            <a:ext cx="11169073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Solutions across sectors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82588" y="2143919"/>
            <a:ext cx="11226221" cy="4282182"/>
          </a:xfrm>
          <a:prstGeom prst="rect">
            <a:avLst/>
          </a:prstGeom>
          <a:solidFill>
            <a:srgbClr val="12384A"/>
          </a:solidFill>
          <a:ln w="6350">
            <a:solidFill>
              <a:srgbClr val="007C78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488938" y="2150269"/>
            <a:ext cx="5530513" cy="1321395"/>
          </a:xfrm>
          <a:prstGeom prst="roundRect">
            <a:avLst>
              <a:gd name="adj" fmla="val 7750"/>
            </a:avLst>
          </a:prstGeom>
          <a:solidFill>
            <a:srgbClr val="F6EEDD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32" y="2378869"/>
            <a:ext cx="507987" cy="50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7532" y="3045123"/>
            <a:ext cx="562576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Residential &amp; home compounds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171847" y="2150269"/>
            <a:ext cx="5530513" cy="1321395"/>
          </a:xfrm>
          <a:prstGeom prst="roundRect">
            <a:avLst>
              <a:gd name="adj" fmla="val 7750"/>
            </a:avLst>
          </a:prstGeom>
          <a:solidFill>
            <a:srgbClr val="F6EEDD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441" y="2378869"/>
            <a:ext cx="507987" cy="508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441" y="3045123"/>
            <a:ext cx="562576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Hotels &amp; hospitality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88938" y="3624163"/>
            <a:ext cx="5530513" cy="1321792"/>
          </a:xfrm>
          <a:prstGeom prst="roundRect">
            <a:avLst>
              <a:gd name="adj" fmla="val 7748"/>
            </a:avLst>
          </a:prstGeom>
          <a:solidFill>
            <a:srgbClr val="F6EEDD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32" y="3852763"/>
            <a:ext cx="507987" cy="508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532" y="4518819"/>
            <a:ext cx="562576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Commercial buildings and services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171847" y="3624163"/>
            <a:ext cx="5530513" cy="1321792"/>
          </a:xfrm>
          <a:prstGeom prst="roundRect">
            <a:avLst>
              <a:gd name="adj" fmla="val 7748"/>
            </a:avLst>
          </a:prstGeom>
          <a:solidFill>
            <a:srgbClr val="F6EEDD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441" y="3852763"/>
            <a:ext cx="507987" cy="508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441" y="4518819"/>
            <a:ext cx="562576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Industrial and energy-intensive operations</a:t>
            </a:r>
            <a:endParaRPr lang="en-US" sz="1650" dirty="0"/>
          </a:p>
        </p:txBody>
      </p:sp>
      <p:sp>
        <p:nvSpPr>
          <p:cNvPr id="17" name="Shape 11"/>
          <p:cNvSpPr/>
          <p:nvPr/>
        </p:nvSpPr>
        <p:spPr>
          <a:xfrm>
            <a:off x="488938" y="5098256"/>
            <a:ext cx="5530513" cy="1321495"/>
          </a:xfrm>
          <a:prstGeom prst="roundRect">
            <a:avLst>
              <a:gd name="adj" fmla="val 7750"/>
            </a:avLst>
          </a:prstGeom>
          <a:solidFill>
            <a:srgbClr val="F6EEDD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532" y="5326856"/>
            <a:ext cx="507987" cy="508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7532" y="5992912"/>
            <a:ext cx="562576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Agriculture, irrigation and pumping</a:t>
            </a:r>
            <a:endParaRPr lang="en-US" sz="1650" dirty="0"/>
          </a:p>
        </p:txBody>
      </p:sp>
      <p:sp>
        <p:nvSpPr>
          <p:cNvPr id="20" name="Shape 13"/>
          <p:cNvSpPr/>
          <p:nvPr/>
        </p:nvSpPr>
        <p:spPr>
          <a:xfrm>
            <a:off x="6171847" y="5098256"/>
            <a:ext cx="5530513" cy="1321495"/>
          </a:xfrm>
          <a:prstGeom prst="roundRect">
            <a:avLst>
              <a:gd name="adj" fmla="val 7750"/>
            </a:avLst>
          </a:prstGeom>
          <a:solidFill>
            <a:srgbClr val="F6EEDD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441" y="5326856"/>
            <a:ext cx="507987" cy="508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00441" y="5992912"/>
            <a:ext cx="5791254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Schools, healthcare, community and public facilities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558786" y="274260"/>
            <a:ext cx="461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D806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3784307" y="368300"/>
            <a:ext cx="7340218" cy="25400"/>
          </a:xfrm>
          <a:prstGeom prst="roundRect">
            <a:avLst>
              <a:gd name="adj" fmla="val 4999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5" name="Shape 17"/>
          <p:cNvSpPr/>
          <p:nvPr/>
        </p:nvSpPr>
        <p:spPr>
          <a:xfrm>
            <a:off x="11429416" y="254000"/>
            <a:ext cx="253994" cy="254000"/>
          </a:xfrm>
          <a:prstGeom prst="roundRect">
            <a:avLst>
              <a:gd name="adj" fmla="val 144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6" name="Shape 18"/>
          <p:cNvSpPr/>
          <p:nvPr/>
        </p:nvSpPr>
        <p:spPr>
          <a:xfrm>
            <a:off x="11226221" y="304800"/>
            <a:ext cx="152396" cy="152400"/>
          </a:xfrm>
          <a:prstGeom prst="roundRect">
            <a:avLst>
              <a:gd name="adj" fmla="val 24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499" y="0"/>
            <a:ext cx="296260" cy="29626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499" y="296267"/>
            <a:ext cx="296260" cy="29636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499" y="592634"/>
            <a:ext cx="296260" cy="29626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759" y="0"/>
            <a:ext cx="296359" cy="29626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759" y="296267"/>
            <a:ext cx="296359" cy="29636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759" y="592634"/>
            <a:ext cx="296359" cy="29626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0217" y="0"/>
            <a:ext cx="296260" cy="29626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0217" y="296267"/>
            <a:ext cx="296260" cy="29636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20217" y="592634"/>
            <a:ext cx="296260" cy="29626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6477" y="0"/>
            <a:ext cx="222244" cy="222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6477" y="222250"/>
            <a:ext cx="222244" cy="222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16477" y="444500"/>
            <a:ext cx="222244" cy="222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16477" y="666750"/>
            <a:ext cx="222244" cy="222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38721" y="0"/>
            <a:ext cx="222244" cy="222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38721" y="222250"/>
            <a:ext cx="222244" cy="222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38721" y="444500"/>
            <a:ext cx="222244" cy="222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38721" y="666750"/>
            <a:ext cx="222244" cy="2222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60966" y="0"/>
            <a:ext cx="222244" cy="2222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60966" y="222250"/>
            <a:ext cx="222244" cy="222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60966" y="444500"/>
            <a:ext cx="222244" cy="2222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60966" y="666750"/>
            <a:ext cx="222244" cy="2222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83210" y="0"/>
            <a:ext cx="222244" cy="2222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83210" y="222250"/>
            <a:ext cx="222244" cy="2222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83210" y="444500"/>
            <a:ext cx="222244" cy="2222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683210" y="666750"/>
            <a:ext cx="222244" cy="2222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905455" y="0"/>
            <a:ext cx="296260" cy="296267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905455" y="296267"/>
            <a:ext cx="296260" cy="296366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905455" y="592634"/>
            <a:ext cx="296260" cy="296267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201714" y="0"/>
            <a:ext cx="296359" cy="296267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201714" y="296267"/>
            <a:ext cx="296359" cy="296366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201714" y="592634"/>
            <a:ext cx="296359" cy="296267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498173" y="0"/>
            <a:ext cx="296260" cy="296267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498173" y="296267"/>
            <a:ext cx="296260" cy="296366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498173" y="592634"/>
            <a:ext cx="296260" cy="296267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794432" y="0"/>
            <a:ext cx="222244" cy="22225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794432" y="222250"/>
            <a:ext cx="222244" cy="22225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794432" y="444500"/>
            <a:ext cx="222244" cy="22225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794432" y="666750"/>
            <a:ext cx="222244" cy="22225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016677" y="0"/>
            <a:ext cx="222244" cy="22225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016677" y="222250"/>
            <a:ext cx="222244" cy="22225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016677" y="444500"/>
            <a:ext cx="222244" cy="22225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016677" y="666750"/>
            <a:ext cx="222244" cy="22225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238921" y="0"/>
            <a:ext cx="222244" cy="22225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238921" y="222250"/>
            <a:ext cx="222244" cy="22225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1238921" y="444500"/>
            <a:ext cx="222244" cy="22225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1238921" y="666750"/>
            <a:ext cx="222244" cy="22225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1461166" y="0"/>
            <a:ext cx="222244" cy="22225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1461166" y="222250"/>
            <a:ext cx="222244" cy="22225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1461166" y="444500"/>
            <a:ext cx="222244" cy="22225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1461166" y="666750"/>
            <a:ext cx="222244" cy="22225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1683410" y="0"/>
            <a:ext cx="253994" cy="2540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1683410" y="254000"/>
            <a:ext cx="253994" cy="2540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1937404" y="0"/>
            <a:ext cx="253795" cy="2540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1937404" y="254000"/>
            <a:ext cx="253795" cy="2540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1683410" y="508000"/>
            <a:ext cx="380990" cy="3810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2064401" y="508000"/>
            <a:ext cx="126798" cy="127000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2064401" y="635000"/>
            <a:ext cx="126798" cy="127000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2064401" y="762000"/>
            <a:ext cx="126798" cy="127000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127499" y="0"/>
            <a:ext cx="4063898" cy="889000"/>
          </a:xfrm>
          <a:prstGeom prst="rect">
            <a:avLst/>
          </a:prstGeom>
        </p:spPr>
      </p:pic>
      <p:pic>
        <p:nvPicPr>
          <p:cNvPr id="61" name="Image 59" descr="preencoded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127499" y="0"/>
            <a:ext cx="1777956" cy="889000"/>
          </a:xfrm>
          <a:prstGeom prst="rect">
            <a:avLst/>
          </a:prstGeom>
        </p:spPr>
      </p:pic>
      <p:pic>
        <p:nvPicPr>
          <p:cNvPr id="62" name="Image 60" descr="preencoded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0032749" y="0"/>
            <a:ext cx="711182" cy="889000"/>
          </a:xfrm>
          <a:prstGeom prst="rect">
            <a:avLst/>
          </a:prstGeom>
        </p:spPr>
      </p:pic>
      <p:pic>
        <p:nvPicPr>
          <p:cNvPr id="63" name="Image 61" descr="preencoded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870928" y="0"/>
            <a:ext cx="152396" cy="889000"/>
          </a:xfrm>
          <a:prstGeom prst="rect">
            <a:avLst/>
          </a:prstGeom>
        </p:spPr>
      </p:pic>
      <p:pic>
        <p:nvPicPr>
          <p:cNvPr id="64" name="Image 62" descr="preencoded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1226519" y="0"/>
            <a:ext cx="965176" cy="355600"/>
          </a:xfrm>
          <a:prstGeom prst="rect">
            <a:avLst/>
          </a:prstGeom>
        </p:spPr>
      </p:pic>
      <p:pic>
        <p:nvPicPr>
          <p:cNvPr id="65" name="Image 63" descr="preencoded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127499" y="711200"/>
            <a:ext cx="2539936" cy="25400"/>
          </a:xfrm>
          <a:prstGeom prst="rect">
            <a:avLst/>
          </a:prstGeom>
        </p:spPr>
      </p:pic>
      <p:sp>
        <p:nvSpPr>
          <p:cNvPr id="66" name="Text 0"/>
          <p:cNvSpPr/>
          <p:nvPr/>
        </p:nvSpPr>
        <p:spPr>
          <a:xfrm>
            <a:off x="431789" y="897374"/>
            <a:ext cx="8248146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kern="100" spc="115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VALUE OF INTEGRATION</a:t>
            </a:r>
            <a:endParaRPr lang="en-US" sz="1150" dirty="0"/>
          </a:p>
        </p:txBody>
      </p:sp>
      <p:sp>
        <p:nvSpPr>
          <p:cNvPr id="67" name="Text 1"/>
          <p:cNvSpPr/>
          <p:nvPr/>
        </p:nvSpPr>
        <p:spPr>
          <a:xfrm>
            <a:off x="431789" y="1219398"/>
            <a:ext cx="7206871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kern="100" spc="-40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Why integrated energy creates value</a:t>
            </a:r>
            <a:endParaRPr lang="en-US" sz="4000" dirty="0"/>
          </a:p>
        </p:txBody>
      </p:sp>
      <p:pic>
        <p:nvPicPr>
          <p:cNvPr id="68" name="Image 64" descr="preencoded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431789" y="2453878"/>
            <a:ext cx="2421274" cy="1927820"/>
          </a:xfrm>
          <a:prstGeom prst="rect">
            <a:avLst/>
          </a:prstGeom>
        </p:spPr>
      </p:pic>
      <p:sp>
        <p:nvSpPr>
          <p:cNvPr id="69" name="Text 2"/>
          <p:cNvSpPr/>
          <p:nvPr/>
        </p:nvSpPr>
        <p:spPr>
          <a:xfrm>
            <a:off x="660383" y="2736751"/>
            <a:ext cx="1964085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Manage energy costs</a:t>
            </a:r>
            <a:endParaRPr lang="en-US" sz="1650" dirty="0"/>
          </a:p>
        </p:txBody>
      </p:sp>
      <p:sp>
        <p:nvSpPr>
          <p:cNvPr id="70" name="Text 3"/>
          <p:cNvSpPr/>
          <p:nvPr/>
        </p:nvSpPr>
        <p:spPr>
          <a:xfrm>
            <a:off x="660383" y="3295809"/>
            <a:ext cx="1906937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Through on-site generation aligned with demand.</a:t>
            </a:r>
            <a:endParaRPr lang="en-US" sz="1600" dirty="0"/>
          </a:p>
        </p:txBody>
      </p:sp>
      <p:sp>
        <p:nvSpPr>
          <p:cNvPr id="71" name="Shape 4"/>
          <p:cNvSpPr/>
          <p:nvPr/>
        </p:nvSpPr>
        <p:spPr>
          <a:xfrm>
            <a:off x="2853063" y="2453878"/>
            <a:ext cx="2421274" cy="192782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72" name="Text 5"/>
          <p:cNvSpPr/>
          <p:nvPr/>
        </p:nvSpPr>
        <p:spPr>
          <a:xfrm>
            <a:off x="3081657" y="2736751"/>
            <a:ext cx="1906937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Reduce operational emissions</a:t>
            </a:r>
            <a:endParaRPr lang="en-US" sz="1650" dirty="0"/>
          </a:p>
        </p:txBody>
      </p:sp>
      <p:sp>
        <p:nvSpPr>
          <p:cNvPr id="73" name="Text 6"/>
          <p:cNvSpPr/>
          <p:nvPr/>
        </p:nvSpPr>
        <p:spPr>
          <a:xfrm>
            <a:off x="3081657" y="3295809"/>
            <a:ext cx="190693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Associated with grid electricity.</a:t>
            </a:r>
            <a:endParaRPr lang="en-US" sz="1600" dirty="0"/>
          </a:p>
        </p:txBody>
      </p:sp>
      <p:pic>
        <p:nvPicPr>
          <p:cNvPr id="74" name="Image 65" descr="preencoded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5274337" y="2453878"/>
            <a:ext cx="2421274" cy="1927820"/>
          </a:xfrm>
          <a:prstGeom prst="rect">
            <a:avLst/>
          </a:prstGeom>
        </p:spPr>
      </p:pic>
      <p:sp>
        <p:nvSpPr>
          <p:cNvPr id="75" name="Text 7"/>
          <p:cNvSpPr/>
          <p:nvPr/>
        </p:nvSpPr>
        <p:spPr>
          <a:xfrm>
            <a:off x="5502931" y="2726333"/>
            <a:ext cx="278381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Improve resilience</a:t>
            </a:r>
            <a:endParaRPr lang="en-US" sz="1650" dirty="0"/>
          </a:p>
        </p:txBody>
      </p:sp>
      <p:sp>
        <p:nvSpPr>
          <p:cNvPr id="76" name="Text 8"/>
          <p:cNvSpPr/>
          <p:nvPr/>
        </p:nvSpPr>
        <p:spPr>
          <a:xfrm>
            <a:off x="5502931" y="3073757"/>
            <a:ext cx="190693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With storage and control strategies.</a:t>
            </a:r>
            <a:endParaRPr lang="en-US" sz="1600" dirty="0"/>
          </a:p>
        </p:txBody>
      </p:sp>
      <p:pic>
        <p:nvPicPr>
          <p:cNvPr id="77" name="Image 66" descr="preencoded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431789" y="4381698"/>
            <a:ext cx="3631911" cy="1116707"/>
          </a:xfrm>
          <a:prstGeom prst="rect">
            <a:avLst/>
          </a:prstGeom>
        </p:spPr>
      </p:pic>
      <p:sp>
        <p:nvSpPr>
          <p:cNvPr id="78" name="Text 9"/>
          <p:cNvSpPr/>
          <p:nvPr/>
        </p:nvSpPr>
        <p:spPr>
          <a:xfrm>
            <a:off x="660383" y="4654252"/>
            <a:ext cx="372715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Strengthen energy visibility</a:t>
            </a:r>
            <a:endParaRPr lang="en-US" sz="1650" dirty="0"/>
          </a:p>
        </p:txBody>
      </p:sp>
      <p:sp>
        <p:nvSpPr>
          <p:cNvPr id="79" name="Text 10"/>
          <p:cNvSpPr/>
          <p:nvPr/>
        </p:nvSpPr>
        <p:spPr>
          <a:xfrm>
            <a:off x="660383" y="4980345"/>
            <a:ext cx="395575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Through monitoring.</a:t>
            </a:r>
            <a:endParaRPr lang="en-US" sz="1600" dirty="0"/>
          </a:p>
        </p:txBody>
      </p:sp>
      <p:pic>
        <p:nvPicPr>
          <p:cNvPr id="80" name="Image 67" descr="preencoded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063601" y="4381698"/>
            <a:ext cx="3631911" cy="1116707"/>
          </a:xfrm>
          <a:prstGeom prst="rect">
            <a:avLst/>
          </a:prstGeom>
        </p:spPr>
      </p:pic>
      <p:sp>
        <p:nvSpPr>
          <p:cNvPr id="81" name="Text 11"/>
          <p:cNvSpPr/>
          <p:nvPr/>
        </p:nvSpPr>
        <p:spPr>
          <a:xfrm>
            <a:off x="4292195" y="4654252"/>
            <a:ext cx="372715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Create long-term value</a:t>
            </a:r>
            <a:endParaRPr lang="en-US" sz="1650" dirty="0"/>
          </a:p>
        </p:txBody>
      </p:sp>
      <p:sp>
        <p:nvSpPr>
          <p:cNvPr id="82" name="Text 12"/>
          <p:cNvSpPr/>
          <p:nvPr/>
        </p:nvSpPr>
        <p:spPr>
          <a:xfrm>
            <a:off x="4292195" y="4980345"/>
            <a:ext cx="395575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Through lifecycle care.</a:t>
            </a:r>
            <a:endParaRPr lang="en-US" sz="1600" dirty="0"/>
          </a:p>
        </p:txBody>
      </p:sp>
      <p:sp>
        <p:nvSpPr>
          <p:cNvPr id="83" name="Shape 13"/>
          <p:cNvSpPr/>
          <p:nvPr/>
        </p:nvSpPr>
        <p:spPr>
          <a:xfrm>
            <a:off x="2846713" y="2453878"/>
            <a:ext cx="12700" cy="1927820"/>
          </a:xfrm>
          <a:prstGeom prst="rect">
            <a:avLst/>
          </a:prstGeom>
          <a:solidFill>
            <a:srgbClr val="007C7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84" name="Shape 14"/>
          <p:cNvSpPr/>
          <p:nvPr/>
        </p:nvSpPr>
        <p:spPr>
          <a:xfrm>
            <a:off x="5267987" y="2453878"/>
            <a:ext cx="12700" cy="1927820"/>
          </a:xfrm>
          <a:prstGeom prst="rect">
            <a:avLst/>
          </a:prstGeom>
          <a:solidFill>
            <a:srgbClr val="007C7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85" name="Shape 15"/>
          <p:cNvSpPr/>
          <p:nvPr/>
        </p:nvSpPr>
        <p:spPr>
          <a:xfrm>
            <a:off x="431789" y="4375348"/>
            <a:ext cx="3631911" cy="12700"/>
          </a:xfrm>
          <a:prstGeom prst="rect">
            <a:avLst/>
          </a:prstGeom>
          <a:solidFill>
            <a:srgbClr val="007C7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86" name="Shape 16"/>
          <p:cNvSpPr/>
          <p:nvPr/>
        </p:nvSpPr>
        <p:spPr>
          <a:xfrm>
            <a:off x="4057251" y="4381698"/>
            <a:ext cx="12700" cy="1116707"/>
          </a:xfrm>
          <a:prstGeom prst="rect">
            <a:avLst/>
          </a:prstGeom>
          <a:solidFill>
            <a:srgbClr val="007C7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87" name="Shape 17"/>
          <p:cNvSpPr/>
          <p:nvPr/>
        </p:nvSpPr>
        <p:spPr>
          <a:xfrm>
            <a:off x="4063601" y="4375348"/>
            <a:ext cx="3631911" cy="12700"/>
          </a:xfrm>
          <a:prstGeom prst="rect">
            <a:avLst/>
          </a:prstGeom>
          <a:solidFill>
            <a:srgbClr val="007C7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88" name="Text 18"/>
          <p:cNvSpPr/>
          <p:nvPr/>
        </p:nvSpPr>
        <p:spPr>
          <a:xfrm>
            <a:off x="431789" y="5679996"/>
            <a:ext cx="8248146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Benefits depend on the site, load profile, tariffs, system design and project economics.</a:t>
            </a:r>
            <a:endParaRPr lang="en-US" sz="1200" dirty="0"/>
          </a:p>
        </p:txBody>
      </p:sp>
      <p:pic>
        <p:nvPicPr>
          <p:cNvPr id="89" name="Image 68" descr="preencoded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8127499" y="889000"/>
            <a:ext cx="4063700" cy="5969000"/>
          </a:xfrm>
          <a:prstGeom prst="rect">
            <a:avLst/>
          </a:prstGeom>
        </p:spPr>
      </p:pic>
      <p:sp>
        <p:nvSpPr>
          <p:cNvPr id="90" name="Text 19"/>
          <p:cNvSpPr/>
          <p:nvPr/>
        </p:nvSpPr>
        <p:spPr>
          <a:xfrm>
            <a:off x="558786" y="274260"/>
            <a:ext cx="461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D806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</a:t>
            </a:r>
            <a:endParaRPr lang="en-US" sz="1200" dirty="0"/>
          </a:p>
        </p:txBody>
      </p:sp>
      <p:sp>
        <p:nvSpPr>
          <p:cNvPr id="91" name="Shape 20"/>
          <p:cNvSpPr/>
          <p:nvPr/>
        </p:nvSpPr>
        <p:spPr>
          <a:xfrm>
            <a:off x="3784307" y="368300"/>
            <a:ext cx="3682709" cy="25400"/>
          </a:xfrm>
          <a:prstGeom prst="roundRect">
            <a:avLst>
              <a:gd name="adj" fmla="val 4999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92" name="Shape 21"/>
          <p:cNvSpPr/>
          <p:nvPr/>
        </p:nvSpPr>
        <p:spPr>
          <a:xfrm>
            <a:off x="7771908" y="254000"/>
            <a:ext cx="253994" cy="254000"/>
          </a:xfrm>
          <a:prstGeom prst="roundRect">
            <a:avLst>
              <a:gd name="adj" fmla="val 144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93" name="Shape 22"/>
          <p:cNvSpPr/>
          <p:nvPr/>
        </p:nvSpPr>
        <p:spPr>
          <a:xfrm>
            <a:off x="7568812" y="304800"/>
            <a:ext cx="152396" cy="152400"/>
          </a:xfrm>
          <a:prstGeom prst="roundRect">
            <a:avLst>
              <a:gd name="adj" fmla="val 24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1227574"/>
            <a:ext cx="4997325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kern="100" spc="115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OUR QUALITY COMMITMENT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31789" y="1583849"/>
            <a:ext cx="11270670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Quality built into the lifecycle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31789" y="2245519"/>
            <a:ext cx="3699576" cy="901303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660383" y="2518073"/>
            <a:ext cx="3794824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Safety first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283762" y="2245519"/>
            <a:ext cx="3623577" cy="901303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/>
          <p:nvPr/>
        </p:nvSpPr>
        <p:spPr>
          <a:xfrm>
            <a:off x="4512356" y="2528590"/>
            <a:ext cx="3109239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Quality and engineering excellence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059834" y="2245519"/>
            <a:ext cx="3699775" cy="901303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9" name="Text 7"/>
          <p:cNvSpPr/>
          <p:nvPr/>
        </p:nvSpPr>
        <p:spPr>
          <a:xfrm>
            <a:off x="8288428" y="2518073"/>
            <a:ext cx="381942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Environmental responsibility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31789" y="3299321"/>
            <a:ext cx="3699576" cy="679152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1" name="Text 9"/>
          <p:cNvSpPr/>
          <p:nvPr/>
        </p:nvSpPr>
        <p:spPr>
          <a:xfrm>
            <a:off x="660383" y="3571776"/>
            <a:ext cx="3794824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Compliance and integrity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283762" y="3299321"/>
            <a:ext cx="3623577" cy="679152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3" name="Text 11"/>
          <p:cNvSpPr/>
          <p:nvPr/>
        </p:nvSpPr>
        <p:spPr>
          <a:xfrm>
            <a:off x="4512356" y="3571776"/>
            <a:ext cx="3718824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Customer commitment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059834" y="3299321"/>
            <a:ext cx="3699775" cy="679152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5" name="Text 13"/>
          <p:cNvSpPr/>
          <p:nvPr/>
        </p:nvSpPr>
        <p:spPr>
          <a:xfrm>
            <a:off x="8288428" y="3571776"/>
            <a:ext cx="379502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People and improvement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31789" y="4160064"/>
            <a:ext cx="842623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QHSE is embedded across the lifecycle: design → procure → construct → commission → operate.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8786" y="274260"/>
            <a:ext cx="461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D806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84307" y="368300"/>
            <a:ext cx="7340218" cy="25400"/>
          </a:xfrm>
          <a:prstGeom prst="roundRect">
            <a:avLst>
              <a:gd name="adj" fmla="val 4999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9" name="Shape 17"/>
          <p:cNvSpPr/>
          <p:nvPr/>
        </p:nvSpPr>
        <p:spPr>
          <a:xfrm>
            <a:off x="11429416" y="254000"/>
            <a:ext cx="253994" cy="254000"/>
          </a:xfrm>
          <a:prstGeom prst="roundRect">
            <a:avLst>
              <a:gd name="adj" fmla="val 144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0" name="Shape 18"/>
          <p:cNvSpPr/>
          <p:nvPr/>
        </p:nvSpPr>
        <p:spPr>
          <a:xfrm>
            <a:off x="11226221" y="304800"/>
            <a:ext cx="152396" cy="152400"/>
          </a:xfrm>
          <a:prstGeom prst="roundRect">
            <a:avLst>
              <a:gd name="adj" fmla="val 24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4470400"/>
            <a:ext cx="2641335" cy="1422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58786" y="5998190"/>
            <a:ext cx="370175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D806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Technical measurement</a:t>
            </a:r>
            <a:endParaRPr lang="en-US" sz="12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518" y="4470400"/>
            <a:ext cx="2641335" cy="14224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403316" y="5998190"/>
            <a:ext cx="370175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D806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Teamwork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247" y="4470400"/>
            <a:ext cx="2641335" cy="14224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48045" y="5998190"/>
            <a:ext cx="370175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D806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Quality assurance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1876" y="4470400"/>
            <a:ext cx="2641335" cy="14224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92675" y="5998190"/>
            <a:ext cx="2965376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D806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Performance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518" y="1811734"/>
            <a:ext cx="1994545" cy="20637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29" y="4134941"/>
            <a:ext cx="2696897" cy="52298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8786" y="274260"/>
            <a:ext cx="461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5B4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RESERVIA INTEGRATED ENERGY SOLUTIONS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384467" y="719574"/>
            <a:ext cx="6807228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kern="100" spc="115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CONTACT RESERVIA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5384467" y="1041598"/>
            <a:ext cx="6241695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kern="100" spc="-40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Let’s plan your next energy step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5384467" y="2302431"/>
            <a:ext cx="629884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Start with the site, the energy challenge and the outcome you want to achieve.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467" y="3043039"/>
            <a:ext cx="507987" cy="508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56389" y="3086894"/>
            <a:ext cx="5835306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100" spc="-16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Reservia Integrated Energy Solutions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356389" y="3434318"/>
            <a:ext cx="532692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Elite Tower | 3rd Floor | Unit M-19-3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Zahraa El Maadi Entrance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Cairo | Egypt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4467" y="4469507"/>
            <a:ext cx="507987" cy="508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56389" y="4495860"/>
            <a:ext cx="532692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+20 121 189 2995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+20 2 2522 2814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4467" y="5236369"/>
            <a:ext cx="507987" cy="508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56389" y="5241489"/>
            <a:ext cx="583530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Business_info@reservia-energy.com</a:t>
            </a:r>
            <a:endParaRPr lang="en-US" sz="16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4467" y="5922169"/>
            <a:ext cx="507987" cy="5080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356389" y="5927289"/>
            <a:ext cx="583530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www.reservia-energy.com</a:t>
            </a:r>
            <a:endParaRPr lang="en-US" sz="1600" dirty="0"/>
          </a:p>
        </p:txBody>
      </p:sp>
      <p:sp>
        <p:nvSpPr>
          <p:cNvPr id="17" name="Shape 9"/>
          <p:cNvSpPr/>
          <p:nvPr/>
        </p:nvSpPr>
        <p:spPr>
          <a:xfrm>
            <a:off x="3784307" y="368300"/>
            <a:ext cx="7340218" cy="25400"/>
          </a:xfrm>
          <a:prstGeom prst="roundRect">
            <a:avLst>
              <a:gd name="adj" fmla="val 49999"/>
            </a:avLst>
          </a:prstGeom>
          <a:solidFill>
            <a:srgbClr val="7CB34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Shape 10"/>
          <p:cNvSpPr/>
          <p:nvPr/>
        </p:nvSpPr>
        <p:spPr>
          <a:xfrm>
            <a:off x="11429416" y="254000"/>
            <a:ext cx="253994" cy="254000"/>
          </a:xfrm>
          <a:prstGeom prst="roundRect">
            <a:avLst>
              <a:gd name="adj" fmla="val 144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9" name="Shape 11"/>
          <p:cNvSpPr/>
          <p:nvPr/>
        </p:nvSpPr>
        <p:spPr>
          <a:xfrm>
            <a:off x="11226221" y="304800"/>
            <a:ext cx="152396" cy="152400"/>
          </a:xfrm>
          <a:prstGeom prst="roundRect">
            <a:avLst>
              <a:gd name="adj" fmla="val 24000"/>
            </a:avLst>
          </a:prstGeom>
          <a:solidFill>
            <a:srgbClr val="A5D6A7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0" name="Text 12"/>
          <p:cNvSpPr/>
          <p:nvPr/>
        </p:nvSpPr>
        <p:spPr>
          <a:xfrm>
            <a:off x="786785" y="4776629"/>
            <a:ext cx="3192184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100" b="1" kern="100" spc="150" dirty="0">
                <a:solidFill>
                  <a:srgbClr val="00646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INTEGRATED ENERGY SOLUTIONS</a:t>
            </a:r>
            <a:endParaRPr lang="en-US" sz="1100" b="1" dirty="0"/>
          </a:p>
        </p:txBody>
      </p:sp>
      <p:sp>
        <p:nvSpPr>
          <p:cNvPr id="21" name="Shape 13"/>
          <p:cNvSpPr/>
          <p:nvPr/>
        </p:nvSpPr>
        <p:spPr>
          <a:xfrm>
            <a:off x="507987" y="4876800"/>
            <a:ext cx="457189" cy="19050"/>
          </a:xfrm>
          <a:prstGeom prst="roundRect">
            <a:avLst>
              <a:gd name="adj" fmla="val 49999"/>
            </a:avLst>
          </a:prstGeom>
          <a:solidFill>
            <a:srgbClr val="00646A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2" name="Shape 14"/>
          <p:cNvSpPr/>
          <p:nvPr/>
        </p:nvSpPr>
        <p:spPr>
          <a:xfrm>
            <a:off x="3797205" y="4876800"/>
            <a:ext cx="457189" cy="19050"/>
          </a:xfrm>
          <a:prstGeom prst="roundRect">
            <a:avLst>
              <a:gd name="adj" fmla="val 49999"/>
            </a:avLst>
          </a:prstGeom>
          <a:solidFill>
            <a:srgbClr val="00646A"/>
          </a:solidFill>
          <a:ln/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909</Words>
  <Application>Microsoft Macintosh PowerPoint</Application>
  <PresentationFormat>Widescreen</PresentationFormat>
  <Paragraphs>167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IBM Plex Sans SemiBold</vt:lpstr>
      <vt:lpstr>Arial</vt:lpstr>
      <vt:lpstr>Space Grotesk Bold</vt:lpstr>
      <vt:lpstr>Space Grotesk SemiBold</vt:lpstr>
      <vt:lpstr>IBM Plex Sans Bold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Ahmed Raafat</dc:creator>
  <cp:lastModifiedBy>Ahmed Abdelfattah</cp:lastModifiedBy>
  <cp:revision>2</cp:revision>
  <dcterms:created xsi:type="dcterms:W3CDTF">2026-10-24T04:06:55Z</dcterms:created>
  <dcterms:modified xsi:type="dcterms:W3CDTF">2026-10-25T08:08:23Z</dcterms:modified>
</cp:coreProperties>
</file>